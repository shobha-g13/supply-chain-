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94" r:id="rId2"/>
    <p:sldId id="257" r:id="rId3"/>
    <p:sldId id="258" r:id="rId4"/>
    <p:sldId id="259" r:id="rId5"/>
    <p:sldId id="269" r:id="rId6"/>
    <p:sldId id="268" r:id="rId7"/>
    <p:sldId id="270" r:id="rId8"/>
    <p:sldId id="261" r:id="rId9"/>
    <p:sldId id="271" r:id="rId10"/>
    <p:sldId id="263" r:id="rId11"/>
    <p:sldId id="265" r:id="rId12"/>
    <p:sldId id="266" r:id="rId13"/>
    <p:sldId id="267" r:id="rId14"/>
    <p:sldId id="287" r:id="rId15"/>
    <p:sldId id="277" r:id="rId16"/>
    <p:sldId id="288" r:id="rId17"/>
    <p:sldId id="289" r:id="rId18"/>
    <p:sldId id="260" r:id="rId19"/>
    <p:sldId id="290" r:id="rId20"/>
    <p:sldId id="262" r:id="rId21"/>
    <p:sldId id="291" r:id="rId22"/>
    <p:sldId id="292" r:id="rId23"/>
    <p:sldId id="293" r:id="rId24"/>
    <p:sldId id="272" r:id="rId25"/>
    <p:sldId id="274" r:id="rId26"/>
    <p:sldId id="275" r:id="rId27"/>
    <p:sldId id="286" r:id="rId28"/>
  </p:sldIdLst>
  <p:sldSz cx="18288000" cy="10287000"/>
  <p:notesSz cx="6858000" cy="9144000"/>
  <p:embeddedFontLst>
    <p:embeddedFont>
      <p:font typeface="Canva Sans" panose="020B0604020202020204" charset="0"/>
      <p:regular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Open Sans Bold" panose="020B0604020202020204" charset="0"/>
      <p:bold r:id="rId35"/>
    </p:embeddedFont>
    <p:embeddedFont>
      <p:font typeface="Open Sans Extra Bold" panose="020B0604020202020204" charset="0"/>
      <p:bold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5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22" autoAdjust="0"/>
  </p:normalViewPr>
  <p:slideViewPr>
    <p:cSldViewPr showGuides="1">
      <p:cViewPr varScale="1">
        <p:scale>
          <a:sx n="50" d="100"/>
          <a:sy n="50" d="100"/>
        </p:scale>
        <p:origin x="725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20D1E7-1725-4BAE-80AB-3DBC7CE2B7E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2041CF5-530A-4921-90DF-2252D2C2FCFF}">
      <dgm:prSet/>
      <dgm:spPr/>
      <dgm:t>
        <a:bodyPr/>
        <a:lstStyle/>
        <a:p>
          <a:pPr>
            <a:defRPr cap="all"/>
          </a:pPr>
          <a:r>
            <a:rPr lang="en-US"/>
            <a:t>Introduction</a:t>
          </a:r>
        </a:p>
      </dgm:t>
    </dgm:pt>
    <dgm:pt modelId="{22BCD1F6-3B9B-4FDE-81CD-D98B819F69B8}" type="parTrans" cxnId="{D0F121E6-08C6-41A8-83C2-6F741B87B89C}">
      <dgm:prSet/>
      <dgm:spPr/>
      <dgm:t>
        <a:bodyPr/>
        <a:lstStyle/>
        <a:p>
          <a:endParaRPr lang="en-US"/>
        </a:p>
      </dgm:t>
    </dgm:pt>
    <dgm:pt modelId="{44A017D1-0BFE-4FE9-AEE0-051F79CCA7BC}" type="sibTrans" cxnId="{D0F121E6-08C6-41A8-83C2-6F741B87B89C}">
      <dgm:prSet/>
      <dgm:spPr/>
      <dgm:t>
        <a:bodyPr/>
        <a:lstStyle/>
        <a:p>
          <a:endParaRPr lang="en-US"/>
        </a:p>
      </dgm:t>
    </dgm:pt>
    <dgm:pt modelId="{1998A71C-9B83-49EA-B44C-E02562B8A7C3}">
      <dgm:prSet/>
      <dgm:spPr/>
      <dgm:t>
        <a:bodyPr/>
        <a:lstStyle/>
        <a:p>
          <a:pPr>
            <a:defRPr cap="all"/>
          </a:pPr>
          <a:r>
            <a:rPr lang="en-US"/>
            <a:t>Objectives</a:t>
          </a:r>
        </a:p>
      </dgm:t>
    </dgm:pt>
    <dgm:pt modelId="{D173D9A4-D5B6-426B-B513-E2AB796E7DC7}" type="parTrans" cxnId="{1D0E5867-EFCB-4D71-8BBD-9F70084A3CC9}">
      <dgm:prSet/>
      <dgm:spPr/>
      <dgm:t>
        <a:bodyPr/>
        <a:lstStyle/>
        <a:p>
          <a:endParaRPr lang="en-US"/>
        </a:p>
      </dgm:t>
    </dgm:pt>
    <dgm:pt modelId="{921DD8FC-204F-4524-9304-7E5BFC93DE51}" type="sibTrans" cxnId="{1D0E5867-EFCB-4D71-8BBD-9F70084A3CC9}">
      <dgm:prSet/>
      <dgm:spPr/>
      <dgm:t>
        <a:bodyPr/>
        <a:lstStyle/>
        <a:p>
          <a:endParaRPr lang="en-US"/>
        </a:p>
      </dgm:t>
    </dgm:pt>
    <dgm:pt modelId="{00C98699-D699-417D-822C-359EE945E313}">
      <dgm:prSet/>
      <dgm:spPr/>
      <dgm:t>
        <a:bodyPr/>
        <a:lstStyle/>
        <a:p>
          <a:pPr>
            <a:defRPr cap="all"/>
          </a:pPr>
          <a:r>
            <a:rPr lang="en-US"/>
            <a:t>Tools used for Data analysis and their limitations</a:t>
          </a:r>
        </a:p>
      </dgm:t>
    </dgm:pt>
    <dgm:pt modelId="{9F1CE650-01A0-480E-ABFF-DFC1D132F18F}" type="parTrans" cxnId="{184F3556-3622-47C2-B3BC-79D3016AC2B1}">
      <dgm:prSet/>
      <dgm:spPr/>
      <dgm:t>
        <a:bodyPr/>
        <a:lstStyle/>
        <a:p>
          <a:endParaRPr lang="en-US"/>
        </a:p>
      </dgm:t>
    </dgm:pt>
    <dgm:pt modelId="{E8DFD4DF-70C1-485F-B959-E122FE3AD00D}" type="sibTrans" cxnId="{184F3556-3622-47C2-B3BC-79D3016AC2B1}">
      <dgm:prSet/>
      <dgm:spPr/>
      <dgm:t>
        <a:bodyPr/>
        <a:lstStyle/>
        <a:p>
          <a:endParaRPr lang="en-US"/>
        </a:p>
      </dgm:t>
    </dgm:pt>
    <dgm:pt modelId="{174A4AA4-580E-4E8A-B240-A17BA3D46958}">
      <dgm:prSet/>
      <dgm:spPr/>
      <dgm:t>
        <a:bodyPr/>
        <a:lstStyle/>
        <a:p>
          <a:pPr>
            <a:defRPr cap="all"/>
          </a:pPr>
          <a:r>
            <a:rPr lang="en-US"/>
            <a:t>Dashboard</a:t>
          </a:r>
        </a:p>
      </dgm:t>
    </dgm:pt>
    <dgm:pt modelId="{3966CC3D-B395-4C84-B9DF-A640ACA4612A}" type="parTrans" cxnId="{49C30647-A8C0-4D5D-AE36-E50DEBCA29F8}">
      <dgm:prSet/>
      <dgm:spPr/>
      <dgm:t>
        <a:bodyPr/>
        <a:lstStyle/>
        <a:p>
          <a:endParaRPr lang="en-US"/>
        </a:p>
      </dgm:t>
    </dgm:pt>
    <dgm:pt modelId="{F2268476-4CE7-460B-B5D3-9FA28EDB9074}" type="sibTrans" cxnId="{49C30647-A8C0-4D5D-AE36-E50DEBCA29F8}">
      <dgm:prSet/>
      <dgm:spPr/>
      <dgm:t>
        <a:bodyPr/>
        <a:lstStyle/>
        <a:p>
          <a:endParaRPr lang="en-US"/>
        </a:p>
      </dgm:t>
    </dgm:pt>
    <dgm:pt modelId="{C82DC6C0-37C8-47C9-B05D-C336C5377A6F}">
      <dgm:prSet/>
      <dgm:spPr/>
      <dgm:t>
        <a:bodyPr/>
        <a:lstStyle/>
        <a:p>
          <a:pPr>
            <a:defRPr cap="all"/>
          </a:pPr>
          <a:r>
            <a:rPr lang="en-US"/>
            <a:t>Findings</a:t>
          </a:r>
        </a:p>
      </dgm:t>
    </dgm:pt>
    <dgm:pt modelId="{37A74CF4-4B85-41C7-B850-3209D57275AB}" type="parTrans" cxnId="{5BCB828D-7859-4E23-B7FC-7F6D774BC8EB}">
      <dgm:prSet/>
      <dgm:spPr/>
      <dgm:t>
        <a:bodyPr/>
        <a:lstStyle/>
        <a:p>
          <a:endParaRPr lang="en-US"/>
        </a:p>
      </dgm:t>
    </dgm:pt>
    <dgm:pt modelId="{04935D12-590D-49CC-9CB8-A4164113C239}" type="sibTrans" cxnId="{5BCB828D-7859-4E23-B7FC-7F6D774BC8EB}">
      <dgm:prSet/>
      <dgm:spPr/>
      <dgm:t>
        <a:bodyPr/>
        <a:lstStyle/>
        <a:p>
          <a:endParaRPr lang="en-US"/>
        </a:p>
      </dgm:t>
    </dgm:pt>
    <dgm:pt modelId="{3109F7F3-AC37-4AC0-B7F3-47AED685827C}">
      <dgm:prSet/>
      <dgm:spPr/>
      <dgm:t>
        <a:bodyPr/>
        <a:lstStyle/>
        <a:p>
          <a:pPr>
            <a:defRPr cap="all"/>
          </a:pPr>
          <a:r>
            <a:rPr lang="en-US"/>
            <a:t>Summary</a:t>
          </a:r>
        </a:p>
      </dgm:t>
    </dgm:pt>
    <dgm:pt modelId="{0A6126AD-AA06-410C-948F-BFC626C03D0E}" type="parTrans" cxnId="{C9AAD834-4206-4F4A-B463-5F4120907FFB}">
      <dgm:prSet/>
      <dgm:spPr/>
      <dgm:t>
        <a:bodyPr/>
        <a:lstStyle/>
        <a:p>
          <a:endParaRPr lang="en-US"/>
        </a:p>
      </dgm:t>
    </dgm:pt>
    <dgm:pt modelId="{2ED4F67A-32F0-41DC-B743-27669F85C0C6}" type="sibTrans" cxnId="{C9AAD834-4206-4F4A-B463-5F4120907FFB}">
      <dgm:prSet/>
      <dgm:spPr/>
      <dgm:t>
        <a:bodyPr/>
        <a:lstStyle/>
        <a:p>
          <a:endParaRPr lang="en-US"/>
        </a:p>
      </dgm:t>
    </dgm:pt>
    <dgm:pt modelId="{6FFE2CAE-2ACB-464F-A65D-7BF1BAB0EE26}">
      <dgm:prSet/>
      <dgm:spPr/>
      <dgm:t>
        <a:bodyPr/>
        <a:lstStyle/>
        <a:p>
          <a:pPr>
            <a:defRPr cap="all"/>
          </a:pPr>
          <a:r>
            <a:rPr lang="en-US"/>
            <a:t>Conclusion</a:t>
          </a:r>
        </a:p>
      </dgm:t>
    </dgm:pt>
    <dgm:pt modelId="{F9E77A6F-C7B1-4630-BEF9-B189E771050C}" type="parTrans" cxnId="{4245B897-43D8-4AAC-81EE-C40C25033AFD}">
      <dgm:prSet/>
      <dgm:spPr/>
      <dgm:t>
        <a:bodyPr/>
        <a:lstStyle/>
        <a:p>
          <a:endParaRPr lang="en-US"/>
        </a:p>
      </dgm:t>
    </dgm:pt>
    <dgm:pt modelId="{24CE85D7-4726-46AA-A8BA-5F9F7F3F12C1}" type="sibTrans" cxnId="{4245B897-43D8-4AAC-81EE-C40C25033AFD}">
      <dgm:prSet/>
      <dgm:spPr/>
      <dgm:t>
        <a:bodyPr/>
        <a:lstStyle/>
        <a:p>
          <a:endParaRPr lang="en-US"/>
        </a:p>
      </dgm:t>
    </dgm:pt>
    <dgm:pt modelId="{89391E46-E759-42E9-BCEF-01DC608A84B0}" type="pres">
      <dgm:prSet presAssocID="{DA20D1E7-1725-4BAE-80AB-3DBC7CE2B7EB}" presName="root" presStyleCnt="0">
        <dgm:presLayoutVars>
          <dgm:dir/>
          <dgm:resizeHandles val="exact"/>
        </dgm:presLayoutVars>
      </dgm:prSet>
      <dgm:spPr/>
    </dgm:pt>
    <dgm:pt modelId="{62F4D9F3-980A-4813-8BB9-EF706DC5F92F}" type="pres">
      <dgm:prSet presAssocID="{82041CF5-530A-4921-90DF-2252D2C2FCFF}" presName="compNode" presStyleCnt="0"/>
      <dgm:spPr/>
    </dgm:pt>
    <dgm:pt modelId="{0EC969E9-C7B5-4300-8338-7A4C0F2E38BF}" type="pres">
      <dgm:prSet presAssocID="{82041CF5-530A-4921-90DF-2252D2C2FCFF}" presName="iconBgRect" presStyleLbl="bgShp" presStyleIdx="0" presStyleCnt="7"/>
      <dgm:spPr/>
    </dgm:pt>
    <dgm:pt modelId="{2691E2F2-36D5-4687-A446-AA83F7C88857}" type="pres">
      <dgm:prSet presAssocID="{82041CF5-530A-4921-90DF-2252D2C2FCF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3352BBA8-0756-4910-81C2-D8F80862D3A6}" type="pres">
      <dgm:prSet presAssocID="{82041CF5-530A-4921-90DF-2252D2C2FCFF}" presName="spaceRect" presStyleCnt="0"/>
      <dgm:spPr/>
    </dgm:pt>
    <dgm:pt modelId="{C6567338-400C-4E6D-8FBC-8BA0A2BCEDA6}" type="pres">
      <dgm:prSet presAssocID="{82041CF5-530A-4921-90DF-2252D2C2FCFF}" presName="textRect" presStyleLbl="revTx" presStyleIdx="0" presStyleCnt="7">
        <dgm:presLayoutVars>
          <dgm:chMax val="1"/>
          <dgm:chPref val="1"/>
        </dgm:presLayoutVars>
      </dgm:prSet>
      <dgm:spPr/>
    </dgm:pt>
    <dgm:pt modelId="{70B383A9-A2BB-4460-B918-203542B8228B}" type="pres">
      <dgm:prSet presAssocID="{44A017D1-0BFE-4FE9-AEE0-051F79CCA7BC}" presName="sibTrans" presStyleCnt="0"/>
      <dgm:spPr/>
    </dgm:pt>
    <dgm:pt modelId="{C5AC878C-C349-43BE-A1FD-0D4F4188F176}" type="pres">
      <dgm:prSet presAssocID="{1998A71C-9B83-49EA-B44C-E02562B8A7C3}" presName="compNode" presStyleCnt="0"/>
      <dgm:spPr/>
    </dgm:pt>
    <dgm:pt modelId="{A970E8E7-FF11-4C62-871B-74E1AD858212}" type="pres">
      <dgm:prSet presAssocID="{1998A71C-9B83-49EA-B44C-E02562B8A7C3}" presName="iconBgRect" presStyleLbl="bgShp" presStyleIdx="1" presStyleCnt="7"/>
      <dgm:spPr/>
    </dgm:pt>
    <dgm:pt modelId="{041DEEE6-7316-42F4-ADA1-FF26CB32A23F}" type="pres">
      <dgm:prSet presAssocID="{1998A71C-9B83-49EA-B44C-E02562B8A7C3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naire"/>
        </a:ext>
      </dgm:extLst>
    </dgm:pt>
    <dgm:pt modelId="{35E66F10-8049-4143-8BFD-36D1791A7419}" type="pres">
      <dgm:prSet presAssocID="{1998A71C-9B83-49EA-B44C-E02562B8A7C3}" presName="spaceRect" presStyleCnt="0"/>
      <dgm:spPr/>
    </dgm:pt>
    <dgm:pt modelId="{BFFB600F-3743-47F1-83CF-BF6A0E582D36}" type="pres">
      <dgm:prSet presAssocID="{1998A71C-9B83-49EA-B44C-E02562B8A7C3}" presName="textRect" presStyleLbl="revTx" presStyleIdx="1" presStyleCnt="7">
        <dgm:presLayoutVars>
          <dgm:chMax val="1"/>
          <dgm:chPref val="1"/>
        </dgm:presLayoutVars>
      </dgm:prSet>
      <dgm:spPr/>
    </dgm:pt>
    <dgm:pt modelId="{ED194A8D-2EBD-4914-92D1-E563F3FAA57D}" type="pres">
      <dgm:prSet presAssocID="{921DD8FC-204F-4524-9304-7E5BFC93DE51}" presName="sibTrans" presStyleCnt="0"/>
      <dgm:spPr/>
    </dgm:pt>
    <dgm:pt modelId="{91AAFC98-6633-4CED-AEAE-C12CFE148987}" type="pres">
      <dgm:prSet presAssocID="{00C98699-D699-417D-822C-359EE945E313}" presName="compNode" presStyleCnt="0"/>
      <dgm:spPr/>
    </dgm:pt>
    <dgm:pt modelId="{69A30654-F823-4E2F-84F2-51A9E853F186}" type="pres">
      <dgm:prSet presAssocID="{00C98699-D699-417D-822C-359EE945E313}" presName="iconBgRect" presStyleLbl="bgShp" presStyleIdx="2" presStyleCnt="7"/>
      <dgm:spPr/>
    </dgm:pt>
    <dgm:pt modelId="{B444A3A6-5D96-4193-9FE4-BD9486B704DC}" type="pres">
      <dgm:prSet presAssocID="{00C98699-D699-417D-822C-359EE945E31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A606D8-379C-405E-9837-14BDAD5EA97B}" type="pres">
      <dgm:prSet presAssocID="{00C98699-D699-417D-822C-359EE945E313}" presName="spaceRect" presStyleCnt="0"/>
      <dgm:spPr/>
    </dgm:pt>
    <dgm:pt modelId="{F2A1E236-9115-47D8-B77F-82FC2935656C}" type="pres">
      <dgm:prSet presAssocID="{00C98699-D699-417D-822C-359EE945E313}" presName="textRect" presStyleLbl="revTx" presStyleIdx="2" presStyleCnt="7">
        <dgm:presLayoutVars>
          <dgm:chMax val="1"/>
          <dgm:chPref val="1"/>
        </dgm:presLayoutVars>
      </dgm:prSet>
      <dgm:spPr/>
    </dgm:pt>
    <dgm:pt modelId="{4B058B42-FC10-4600-9746-1B9A581CC3F7}" type="pres">
      <dgm:prSet presAssocID="{E8DFD4DF-70C1-485F-B959-E122FE3AD00D}" presName="sibTrans" presStyleCnt="0"/>
      <dgm:spPr/>
    </dgm:pt>
    <dgm:pt modelId="{7A6FC4BE-4810-4528-874C-64DB978F8FA5}" type="pres">
      <dgm:prSet presAssocID="{174A4AA4-580E-4E8A-B240-A17BA3D46958}" presName="compNode" presStyleCnt="0"/>
      <dgm:spPr/>
    </dgm:pt>
    <dgm:pt modelId="{062E6720-DE5E-4FCD-8BDE-DACE7EA84051}" type="pres">
      <dgm:prSet presAssocID="{174A4AA4-580E-4E8A-B240-A17BA3D46958}" presName="iconBgRect" presStyleLbl="bgShp" presStyleIdx="3" presStyleCnt="7"/>
      <dgm:spPr/>
    </dgm:pt>
    <dgm:pt modelId="{A7B31D72-F459-463F-9323-EF9336284C55}" type="pres">
      <dgm:prSet presAssocID="{174A4AA4-580E-4E8A-B240-A17BA3D4695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8C998A33-8CF7-4ECE-8D9F-B289E1C7B30F}" type="pres">
      <dgm:prSet presAssocID="{174A4AA4-580E-4E8A-B240-A17BA3D46958}" presName="spaceRect" presStyleCnt="0"/>
      <dgm:spPr/>
    </dgm:pt>
    <dgm:pt modelId="{815DD17E-499A-41EF-8983-C3D7B96FE110}" type="pres">
      <dgm:prSet presAssocID="{174A4AA4-580E-4E8A-B240-A17BA3D46958}" presName="textRect" presStyleLbl="revTx" presStyleIdx="3" presStyleCnt="7">
        <dgm:presLayoutVars>
          <dgm:chMax val="1"/>
          <dgm:chPref val="1"/>
        </dgm:presLayoutVars>
      </dgm:prSet>
      <dgm:spPr/>
    </dgm:pt>
    <dgm:pt modelId="{06BA6CBE-A37F-4323-A82A-3B1384BB7F4B}" type="pres">
      <dgm:prSet presAssocID="{F2268476-4CE7-460B-B5D3-9FA28EDB9074}" presName="sibTrans" presStyleCnt="0"/>
      <dgm:spPr/>
    </dgm:pt>
    <dgm:pt modelId="{80CA8186-6C51-4C68-95D9-E146C580BB31}" type="pres">
      <dgm:prSet presAssocID="{C82DC6C0-37C8-47C9-B05D-C336C5377A6F}" presName="compNode" presStyleCnt="0"/>
      <dgm:spPr/>
    </dgm:pt>
    <dgm:pt modelId="{A120DC5F-1205-496A-8D77-C0F2A08BF357}" type="pres">
      <dgm:prSet presAssocID="{C82DC6C0-37C8-47C9-B05D-C336C5377A6F}" presName="iconBgRect" presStyleLbl="bgShp" presStyleIdx="4" presStyleCnt="7"/>
      <dgm:spPr/>
    </dgm:pt>
    <dgm:pt modelId="{86DD9059-9952-467E-B19E-3A80780475A4}" type="pres">
      <dgm:prSet presAssocID="{C82DC6C0-37C8-47C9-B05D-C336C5377A6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unications"/>
        </a:ext>
      </dgm:extLst>
    </dgm:pt>
    <dgm:pt modelId="{C906891B-A2FF-46F6-A611-E8D3A3667294}" type="pres">
      <dgm:prSet presAssocID="{C82DC6C0-37C8-47C9-B05D-C336C5377A6F}" presName="spaceRect" presStyleCnt="0"/>
      <dgm:spPr/>
    </dgm:pt>
    <dgm:pt modelId="{A415CAB5-A90B-4298-BD35-E26DBEC6AA9D}" type="pres">
      <dgm:prSet presAssocID="{C82DC6C0-37C8-47C9-B05D-C336C5377A6F}" presName="textRect" presStyleLbl="revTx" presStyleIdx="4" presStyleCnt="7">
        <dgm:presLayoutVars>
          <dgm:chMax val="1"/>
          <dgm:chPref val="1"/>
        </dgm:presLayoutVars>
      </dgm:prSet>
      <dgm:spPr/>
    </dgm:pt>
    <dgm:pt modelId="{56BF805C-D823-4476-9ED3-411D9EC91600}" type="pres">
      <dgm:prSet presAssocID="{04935D12-590D-49CC-9CB8-A4164113C239}" presName="sibTrans" presStyleCnt="0"/>
      <dgm:spPr/>
    </dgm:pt>
    <dgm:pt modelId="{1F07E10C-2820-4DDE-922E-339DF3B03CD1}" type="pres">
      <dgm:prSet presAssocID="{3109F7F3-AC37-4AC0-B7F3-47AED685827C}" presName="compNode" presStyleCnt="0"/>
      <dgm:spPr/>
    </dgm:pt>
    <dgm:pt modelId="{C360AC7B-5F0A-4280-A0E6-F3A96A0D6A9A}" type="pres">
      <dgm:prSet presAssocID="{3109F7F3-AC37-4AC0-B7F3-47AED685827C}" presName="iconBgRect" presStyleLbl="bgShp" presStyleIdx="5" presStyleCnt="7"/>
      <dgm:spPr/>
    </dgm:pt>
    <dgm:pt modelId="{117725E9-2C32-45A1-A7E4-6CED74815A26}" type="pres">
      <dgm:prSet presAssocID="{3109F7F3-AC37-4AC0-B7F3-47AED685827C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d Document"/>
        </a:ext>
      </dgm:extLst>
    </dgm:pt>
    <dgm:pt modelId="{7E8A4493-C46B-4535-8B60-416892252068}" type="pres">
      <dgm:prSet presAssocID="{3109F7F3-AC37-4AC0-B7F3-47AED685827C}" presName="spaceRect" presStyleCnt="0"/>
      <dgm:spPr/>
    </dgm:pt>
    <dgm:pt modelId="{583BD770-F3EA-44FE-A64C-EE350ACC8C35}" type="pres">
      <dgm:prSet presAssocID="{3109F7F3-AC37-4AC0-B7F3-47AED685827C}" presName="textRect" presStyleLbl="revTx" presStyleIdx="5" presStyleCnt="7">
        <dgm:presLayoutVars>
          <dgm:chMax val="1"/>
          <dgm:chPref val="1"/>
        </dgm:presLayoutVars>
      </dgm:prSet>
      <dgm:spPr/>
    </dgm:pt>
    <dgm:pt modelId="{5E0CCC29-5C7C-4841-9107-2DE2EE799598}" type="pres">
      <dgm:prSet presAssocID="{2ED4F67A-32F0-41DC-B743-27669F85C0C6}" presName="sibTrans" presStyleCnt="0"/>
      <dgm:spPr/>
    </dgm:pt>
    <dgm:pt modelId="{63850AAA-62DE-4302-AD8F-2EF382880376}" type="pres">
      <dgm:prSet presAssocID="{6FFE2CAE-2ACB-464F-A65D-7BF1BAB0EE26}" presName="compNode" presStyleCnt="0"/>
      <dgm:spPr/>
    </dgm:pt>
    <dgm:pt modelId="{09179C11-C19F-482D-9FDC-CDA095424778}" type="pres">
      <dgm:prSet presAssocID="{6FFE2CAE-2ACB-464F-A65D-7BF1BAB0EE26}" presName="iconBgRect" presStyleLbl="bgShp" presStyleIdx="6" presStyleCnt="7"/>
      <dgm:spPr/>
    </dgm:pt>
    <dgm:pt modelId="{749A062D-9ED9-4E8D-80D5-E1E7408B4C2E}" type="pres">
      <dgm:prSet presAssocID="{6FFE2CAE-2ACB-464F-A65D-7BF1BAB0EE2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89EE26A2-7683-43E4-8213-0651034C9027}" type="pres">
      <dgm:prSet presAssocID="{6FFE2CAE-2ACB-464F-A65D-7BF1BAB0EE26}" presName="spaceRect" presStyleCnt="0"/>
      <dgm:spPr/>
    </dgm:pt>
    <dgm:pt modelId="{16F9630E-2674-447B-AF0B-8176EF8B9B21}" type="pres">
      <dgm:prSet presAssocID="{6FFE2CAE-2ACB-464F-A65D-7BF1BAB0EE26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A3C95306-ED09-4A8B-820D-52157A226208}" type="presOf" srcId="{00C98699-D699-417D-822C-359EE945E313}" destId="{F2A1E236-9115-47D8-B77F-82FC2935656C}" srcOrd="0" destOrd="0" presId="urn:microsoft.com/office/officeart/2018/5/layout/IconCircleLabelList"/>
    <dgm:cxn modelId="{35D7B50C-E44B-478B-AC6B-A072A8D4C6C6}" type="presOf" srcId="{6FFE2CAE-2ACB-464F-A65D-7BF1BAB0EE26}" destId="{16F9630E-2674-447B-AF0B-8176EF8B9B21}" srcOrd="0" destOrd="0" presId="urn:microsoft.com/office/officeart/2018/5/layout/IconCircleLabelList"/>
    <dgm:cxn modelId="{C9AAD834-4206-4F4A-B463-5F4120907FFB}" srcId="{DA20D1E7-1725-4BAE-80AB-3DBC7CE2B7EB}" destId="{3109F7F3-AC37-4AC0-B7F3-47AED685827C}" srcOrd="5" destOrd="0" parTransId="{0A6126AD-AA06-410C-948F-BFC626C03D0E}" sibTransId="{2ED4F67A-32F0-41DC-B743-27669F85C0C6}"/>
    <dgm:cxn modelId="{91DF675F-A69C-4689-A51A-0E69C16C1F84}" type="presOf" srcId="{C82DC6C0-37C8-47C9-B05D-C336C5377A6F}" destId="{A415CAB5-A90B-4298-BD35-E26DBEC6AA9D}" srcOrd="0" destOrd="0" presId="urn:microsoft.com/office/officeart/2018/5/layout/IconCircleLabelList"/>
    <dgm:cxn modelId="{257C515F-344E-441E-AA55-B16FB4F86998}" type="presOf" srcId="{1998A71C-9B83-49EA-B44C-E02562B8A7C3}" destId="{BFFB600F-3743-47F1-83CF-BF6A0E582D36}" srcOrd="0" destOrd="0" presId="urn:microsoft.com/office/officeart/2018/5/layout/IconCircleLabelList"/>
    <dgm:cxn modelId="{C0E26F61-3DED-4F21-8EA3-6A065F3ACA7A}" type="presOf" srcId="{3109F7F3-AC37-4AC0-B7F3-47AED685827C}" destId="{583BD770-F3EA-44FE-A64C-EE350ACC8C35}" srcOrd="0" destOrd="0" presId="urn:microsoft.com/office/officeart/2018/5/layout/IconCircleLabelList"/>
    <dgm:cxn modelId="{49C30647-A8C0-4D5D-AE36-E50DEBCA29F8}" srcId="{DA20D1E7-1725-4BAE-80AB-3DBC7CE2B7EB}" destId="{174A4AA4-580E-4E8A-B240-A17BA3D46958}" srcOrd="3" destOrd="0" parTransId="{3966CC3D-B395-4C84-B9DF-A640ACA4612A}" sibTransId="{F2268476-4CE7-460B-B5D3-9FA28EDB9074}"/>
    <dgm:cxn modelId="{1D0E5867-EFCB-4D71-8BBD-9F70084A3CC9}" srcId="{DA20D1E7-1725-4BAE-80AB-3DBC7CE2B7EB}" destId="{1998A71C-9B83-49EA-B44C-E02562B8A7C3}" srcOrd="1" destOrd="0" parTransId="{D173D9A4-D5B6-426B-B513-E2AB796E7DC7}" sibTransId="{921DD8FC-204F-4524-9304-7E5BFC93DE51}"/>
    <dgm:cxn modelId="{184F3556-3622-47C2-B3BC-79D3016AC2B1}" srcId="{DA20D1E7-1725-4BAE-80AB-3DBC7CE2B7EB}" destId="{00C98699-D699-417D-822C-359EE945E313}" srcOrd="2" destOrd="0" parTransId="{9F1CE650-01A0-480E-ABFF-DFC1D132F18F}" sibTransId="{E8DFD4DF-70C1-485F-B959-E122FE3AD00D}"/>
    <dgm:cxn modelId="{9DCB8785-9E5E-47E5-A365-93E53F3BF702}" type="presOf" srcId="{DA20D1E7-1725-4BAE-80AB-3DBC7CE2B7EB}" destId="{89391E46-E759-42E9-BCEF-01DC608A84B0}" srcOrd="0" destOrd="0" presId="urn:microsoft.com/office/officeart/2018/5/layout/IconCircleLabelList"/>
    <dgm:cxn modelId="{5BCB828D-7859-4E23-B7FC-7F6D774BC8EB}" srcId="{DA20D1E7-1725-4BAE-80AB-3DBC7CE2B7EB}" destId="{C82DC6C0-37C8-47C9-B05D-C336C5377A6F}" srcOrd="4" destOrd="0" parTransId="{37A74CF4-4B85-41C7-B850-3209D57275AB}" sibTransId="{04935D12-590D-49CC-9CB8-A4164113C239}"/>
    <dgm:cxn modelId="{4245B897-43D8-4AAC-81EE-C40C25033AFD}" srcId="{DA20D1E7-1725-4BAE-80AB-3DBC7CE2B7EB}" destId="{6FFE2CAE-2ACB-464F-A65D-7BF1BAB0EE26}" srcOrd="6" destOrd="0" parTransId="{F9E77A6F-C7B1-4630-BEF9-B189E771050C}" sibTransId="{24CE85D7-4726-46AA-A8BA-5F9F7F3F12C1}"/>
    <dgm:cxn modelId="{77A1E9AB-5D03-46B6-9844-A4582C6089FF}" type="presOf" srcId="{174A4AA4-580E-4E8A-B240-A17BA3D46958}" destId="{815DD17E-499A-41EF-8983-C3D7B96FE110}" srcOrd="0" destOrd="0" presId="urn:microsoft.com/office/officeart/2018/5/layout/IconCircleLabelList"/>
    <dgm:cxn modelId="{C4F92FCC-5D4D-4CA6-95F9-C0FB291D8609}" type="presOf" srcId="{82041CF5-530A-4921-90DF-2252D2C2FCFF}" destId="{C6567338-400C-4E6D-8FBC-8BA0A2BCEDA6}" srcOrd="0" destOrd="0" presId="urn:microsoft.com/office/officeart/2018/5/layout/IconCircleLabelList"/>
    <dgm:cxn modelId="{D0F121E6-08C6-41A8-83C2-6F741B87B89C}" srcId="{DA20D1E7-1725-4BAE-80AB-3DBC7CE2B7EB}" destId="{82041CF5-530A-4921-90DF-2252D2C2FCFF}" srcOrd="0" destOrd="0" parTransId="{22BCD1F6-3B9B-4FDE-81CD-D98B819F69B8}" sibTransId="{44A017D1-0BFE-4FE9-AEE0-051F79CCA7BC}"/>
    <dgm:cxn modelId="{DC3887E2-66DC-43C4-BC72-0BF326B887EC}" type="presParOf" srcId="{89391E46-E759-42E9-BCEF-01DC608A84B0}" destId="{62F4D9F3-980A-4813-8BB9-EF706DC5F92F}" srcOrd="0" destOrd="0" presId="urn:microsoft.com/office/officeart/2018/5/layout/IconCircleLabelList"/>
    <dgm:cxn modelId="{F2416C3F-250E-4748-BEC9-51305BE7AAFB}" type="presParOf" srcId="{62F4D9F3-980A-4813-8BB9-EF706DC5F92F}" destId="{0EC969E9-C7B5-4300-8338-7A4C0F2E38BF}" srcOrd="0" destOrd="0" presId="urn:microsoft.com/office/officeart/2018/5/layout/IconCircleLabelList"/>
    <dgm:cxn modelId="{61261C01-BC76-4A9E-B286-1E0B8692AEE7}" type="presParOf" srcId="{62F4D9F3-980A-4813-8BB9-EF706DC5F92F}" destId="{2691E2F2-36D5-4687-A446-AA83F7C88857}" srcOrd="1" destOrd="0" presId="urn:microsoft.com/office/officeart/2018/5/layout/IconCircleLabelList"/>
    <dgm:cxn modelId="{36CFB590-B970-4942-8413-A7512C726684}" type="presParOf" srcId="{62F4D9F3-980A-4813-8BB9-EF706DC5F92F}" destId="{3352BBA8-0756-4910-81C2-D8F80862D3A6}" srcOrd="2" destOrd="0" presId="urn:microsoft.com/office/officeart/2018/5/layout/IconCircleLabelList"/>
    <dgm:cxn modelId="{280A80F4-0756-48DA-94C7-B2ECE1E900FC}" type="presParOf" srcId="{62F4D9F3-980A-4813-8BB9-EF706DC5F92F}" destId="{C6567338-400C-4E6D-8FBC-8BA0A2BCEDA6}" srcOrd="3" destOrd="0" presId="urn:microsoft.com/office/officeart/2018/5/layout/IconCircleLabelList"/>
    <dgm:cxn modelId="{39D7A052-DCC9-44ED-8EB8-AA2F9B5B4622}" type="presParOf" srcId="{89391E46-E759-42E9-BCEF-01DC608A84B0}" destId="{70B383A9-A2BB-4460-B918-203542B8228B}" srcOrd="1" destOrd="0" presId="urn:microsoft.com/office/officeart/2018/5/layout/IconCircleLabelList"/>
    <dgm:cxn modelId="{18D96072-DBD5-45B3-B4F9-888EB2B24F07}" type="presParOf" srcId="{89391E46-E759-42E9-BCEF-01DC608A84B0}" destId="{C5AC878C-C349-43BE-A1FD-0D4F4188F176}" srcOrd="2" destOrd="0" presId="urn:microsoft.com/office/officeart/2018/5/layout/IconCircleLabelList"/>
    <dgm:cxn modelId="{8B4F7A15-CF43-4482-A3CC-92A547ACBD7B}" type="presParOf" srcId="{C5AC878C-C349-43BE-A1FD-0D4F4188F176}" destId="{A970E8E7-FF11-4C62-871B-74E1AD858212}" srcOrd="0" destOrd="0" presId="urn:microsoft.com/office/officeart/2018/5/layout/IconCircleLabelList"/>
    <dgm:cxn modelId="{3468DDD9-48B6-41B9-917C-2D24C4014579}" type="presParOf" srcId="{C5AC878C-C349-43BE-A1FD-0D4F4188F176}" destId="{041DEEE6-7316-42F4-ADA1-FF26CB32A23F}" srcOrd="1" destOrd="0" presId="urn:microsoft.com/office/officeart/2018/5/layout/IconCircleLabelList"/>
    <dgm:cxn modelId="{358D7733-042E-41BD-8732-1C9D8F001B82}" type="presParOf" srcId="{C5AC878C-C349-43BE-A1FD-0D4F4188F176}" destId="{35E66F10-8049-4143-8BFD-36D1791A7419}" srcOrd="2" destOrd="0" presId="urn:microsoft.com/office/officeart/2018/5/layout/IconCircleLabelList"/>
    <dgm:cxn modelId="{87243A78-0CBF-4EE9-A679-307D2CACF2FF}" type="presParOf" srcId="{C5AC878C-C349-43BE-A1FD-0D4F4188F176}" destId="{BFFB600F-3743-47F1-83CF-BF6A0E582D36}" srcOrd="3" destOrd="0" presId="urn:microsoft.com/office/officeart/2018/5/layout/IconCircleLabelList"/>
    <dgm:cxn modelId="{FFA6B95B-E8FA-4652-BF14-B37AA54FC390}" type="presParOf" srcId="{89391E46-E759-42E9-BCEF-01DC608A84B0}" destId="{ED194A8D-2EBD-4914-92D1-E563F3FAA57D}" srcOrd="3" destOrd="0" presId="urn:microsoft.com/office/officeart/2018/5/layout/IconCircleLabelList"/>
    <dgm:cxn modelId="{84570D46-0D71-4071-9F50-D3F26FC04A7F}" type="presParOf" srcId="{89391E46-E759-42E9-BCEF-01DC608A84B0}" destId="{91AAFC98-6633-4CED-AEAE-C12CFE148987}" srcOrd="4" destOrd="0" presId="urn:microsoft.com/office/officeart/2018/5/layout/IconCircleLabelList"/>
    <dgm:cxn modelId="{903512D9-0305-454F-A72F-5A212DFB3985}" type="presParOf" srcId="{91AAFC98-6633-4CED-AEAE-C12CFE148987}" destId="{69A30654-F823-4E2F-84F2-51A9E853F186}" srcOrd="0" destOrd="0" presId="urn:microsoft.com/office/officeart/2018/5/layout/IconCircleLabelList"/>
    <dgm:cxn modelId="{440965F5-A196-4899-907B-20CBBC197F9E}" type="presParOf" srcId="{91AAFC98-6633-4CED-AEAE-C12CFE148987}" destId="{B444A3A6-5D96-4193-9FE4-BD9486B704DC}" srcOrd="1" destOrd="0" presId="urn:microsoft.com/office/officeart/2018/5/layout/IconCircleLabelList"/>
    <dgm:cxn modelId="{5C457D89-8D17-4B94-8D8D-F99D7B8410AC}" type="presParOf" srcId="{91AAFC98-6633-4CED-AEAE-C12CFE148987}" destId="{D6A606D8-379C-405E-9837-14BDAD5EA97B}" srcOrd="2" destOrd="0" presId="urn:microsoft.com/office/officeart/2018/5/layout/IconCircleLabelList"/>
    <dgm:cxn modelId="{57BCA91A-F842-42D0-8CD2-79FED4285A62}" type="presParOf" srcId="{91AAFC98-6633-4CED-AEAE-C12CFE148987}" destId="{F2A1E236-9115-47D8-B77F-82FC2935656C}" srcOrd="3" destOrd="0" presId="urn:microsoft.com/office/officeart/2018/5/layout/IconCircleLabelList"/>
    <dgm:cxn modelId="{4ABF095B-C1F1-4189-8C7A-E5B5E8785855}" type="presParOf" srcId="{89391E46-E759-42E9-BCEF-01DC608A84B0}" destId="{4B058B42-FC10-4600-9746-1B9A581CC3F7}" srcOrd="5" destOrd="0" presId="urn:microsoft.com/office/officeart/2018/5/layout/IconCircleLabelList"/>
    <dgm:cxn modelId="{36C15D2F-654B-4FC0-BDA7-36568E860A39}" type="presParOf" srcId="{89391E46-E759-42E9-BCEF-01DC608A84B0}" destId="{7A6FC4BE-4810-4528-874C-64DB978F8FA5}" srcOrd="6" destOrd="0" presId="urn:microsoft.com/office/officeart/2018/5/layout/IconCircleLabelList"/>
    <dgm:cxn modelId="{D57DE686-A9D4-44CE-BFCF-E35176F2360E}" type="presParOf" srcId="{7A6FC4BE-4810-4528-874C-64DB978F8FA5}" destId="{062E6720-DE5E-4FCD-8BDE-DACE7EA84051}" srcOrd="0" destOrd="0" presId="urn:microsoft.com/office/officeart/2018/5/layout/IconCircleLabelList"/>
    <dgm:cxn modelId="{095FB320-A03F-463E-A869-0E915EE0EDDF}" type="presParOf" srcId="{7A6FC4BE-4810-4528-874C-64DB978F8FA5}" destId="{A7B31D72-F459-463F-9323-EF9336284C55}" srcOrd="1" destOrd="0" presId="urn:microsoft.com/office/officeart/2018/5/layout/IconCircleLabelList"/>
    <dgm:cxn modelId="{399091D4-920E-456B-9B37-6ABF3C0F7713}" type="presParOf" srcId="{7A6FC4BE-4810-4528-874C-64DB978F8FA5}" destId="{8C998A33-8CF7-4ECE-8D9F-B289E1C7B30F}" srcOrd="2" destOrd="0" presId="urn:microsoft.com/office/officeart/2018/5/layout/IconCircleLabelList"/>
    <dgm:cxn modelId="{1FD962B3-F5FF-46A2-A64C-FCD6A3366FE0}" type="presParOf" srcId="{7A6FC4BE-4810-4528-874C-64DB978F8FA5}" destId="{815DD17E-499A-41EF-8983-C3D7B96FE110}" srcOrd="3" destOrd="0" presId="urn:microsoft.com/office/officeart/2018/5/layout/IconCircleLabelList"/>
    <dgm:cxn modelId="{5F15CA62-CCEE-4988-8BCC-B0D114275099}" type="presParOf" srcId="{89391E46-E759-42E9-BCEF-01DC608A84B0}" destId="{06BA6CBE-A37F-4323-A82A-3B1384BB7F4B}" srcOrd="7" destOrd="0" presId="urn:microsoft.com/office/officeart/2018/5/layout/IconCircleLabelList"/>
    <dgm:cxn modelId="{DC0A3A0C-55EB-4BE0-8CA5-CD550B5EDEBA}" type="presParOf" srcId="{89391E46-E759-42E9-BCEF-01DC608A84B0}" destId="{80CA8186-6C51-4C68-95D9-E146C580BB31}" srcOrd="8" destOrd="0" presId="urn:microsoft.com/office/officeart/2018/5/layout/IconCircleLabelList"/>
    <dgm:cxn modelId="{9E46C31E-BC64-4F8E-A68B-558975F5E5C8}" type="presParOf" srcId="{80CA8186-6C51-4C68-95D9-E146C580BB31}" destId="{A120DC5F-1205-496A-8D77-C0F2A08BF357}" srcOrd="0" destOrd="0" presId="urn:microsoft.com/office/officeart/2018/5/layout/IconCircleLabelList"/>
    <dgm:cxn modelId="{56C439C1-8C6A-4EDE-A77B-D9FD774CDB05}" type="presParOf" srcId="{80CA8186-6C51-4C68-95D9-E146C580BB31}" destId="{86DD9059-9952-467E-B19E-3A80780475A4}" srcOrd="1" destOrd="0" presId="urn:microsoft.com/office/officeart/2018/5/layout/IconCircleLabelList"/>
    <dgm:cxn modelId="{5C7C78A2-7E2D-423F-A197-2AF3FF0A2D5C}" type="presParOf" srcId="{80CA8186-6C51-4C68-95D9-E146C580BB31}" destId="{C906891B-A2FF-46F6-A611-E8D3A3667294}" srcOrd="2" destOrd="0" presId="urn:microsoft.com/office/officeart/2018/5/layout/IconCircleLabelList"/>
    <dgm:cxn modelId="{4715815E-78FD-4662-BC18-0249CDEFF615}" type="presParOf" srcId="{80CA8186-6C51-4C68-95D9-E146C580BB31}" destId="{A415CAB5-A90B-4298-BD35-E26DBEC6AA9D}" srcOrd="3" destOrd="0" presId="urn:microsoft.com/office/officeart/2018/5/layout/IconCircleLabelList"/>
    <dgm:cxn modelId="{BEDF2176-4011-42A3-8B3C-47B60BC666E2}" type="presParOf" srcId="{89391E46-E759-42E9-BCEF-01DC608A84B0}" destId="{56BF805C-D823-4476-9ED3-411D9EC91600}" srcOrd="9" destOrd="0" presId="urn:microsoft.com/office/officeart/2018/5/layout/IconCircleLabelList"/>
    <dgm:cxn modelId="{E2FA06DE-E550-469C-B0A1-E43B0CF37BD8}" type="presParOf" srcId="{89391E46-E759-42E9-BCEF-01DC608A84B0}" destId="{1F07E10C-2820-4DDE-922E-339DF3B03CD1}" srcOrd="10" destOrd="0" presId="urn:microsoft.com/office/officeart/2018/5/layout/IconCircleLabelList"/>
    <dgm:cxn modelId="{D92CBDD9-68A8-4D1D-8EB6-6C40C99392CD}" type="presParOf" srcId="{1F07E10C-2820-4DDE-922E-339DF3B03CD1}" destId="{C360AC7B-5F0A-4280-A0E6-F3A96A0D6A9A}" srcOrd="0" destOrd="0" presId="urn:microsoft.com/office/officeart/2018/5/layout/IconCircleLabelList"/>
    <dgm:cxn modelId="{F6093F87-5072-48A5-90E4-290250BC5B06}" type="presParOf" srcId="{1F07E10C-2820-4DDE-922E-339DF3B03CD1}" destId="{117725E9-2C32-45A1-A7E4-6CED74815A26}" srcOrd="1" destOrd="0" presId="urn:microsoft.com/office/officeart/2018/5/layout/IconCircleLabelList"/>
    <dgm:cxn modelId="{43C82142-3483-4C55-8456-817AF92B0E50}" type="presParOf" srcId="{1F07E10C-2820-4DDE-922E-339DF3B03CD1}" destId="{7E8A4493-C46B-4535-8B60-416892252068}" srcOrd="2" destOrd="0" presId="urn:microsoft.com/office/officeart/2018/5/layout/IconCircleLabelList"/>
    <dgm:cxn modelId="{3EA32CF1-E608-428D-9929-9082A1A2522A}" type="presParOf" srcId="{1F07E10C-2820-4DDE-922E-339DF3B03CD1}" destId="{583BD770-F3EA-44FE-A64C-EE350ACC8C35}" srcOrd="3" destOrd="0" presId="urn:microsoft.com/office/officeart/2018/5/layout/IconCircleLabelList"/>
    <dgm:cxn modelId="{E2C24109-F5C4-486E-AD43-396BE0C950FA}" type="presParOf" srcId="{89391E46-E759-42E9-BCEF-01DC608A84B0}" destId="{5E0CCC29-5C7C-4841-9107-2DE2EE799598}" srcOrd="11" destOrd="0" presId="urn:microsoft.com/office/officeart/2018/5/layout/IconCircleLabelList"/>
    <dgm:cxn modelId="{D0E738DB-C04F-467C-9C87-B23C5BC101C1}" type="presParOf" srcId="{89391E46-E759-42E9-BCEF-01DC608A84B0}" destId="{63850AAA-62DE-4302-AD8F-2EF382880376}" srcOrd="12" destOrd="0" presId="urn:microsoft.com/office/officeart/2018/5/layout/IconCircleLabelList"/>
    <dgm:cxn modelId="{76867488-3609-4D3E-8C5D-949372A22B97}" type="presParOf" srcId="{63850AAA-62DE-4302-AD8F-2EF382880376}" destId="{09179C11-C19F-482D-9FDC-CDA095424778}" srcOrd="0" destOrd="0" presId="urn:microsoft.com/office/officeart/2018/5/layout/IconCircleLabelList"/>
    <dgm:cxn modelId="{777886A8-DD0A-4B9C-98B5-A3BF817F39AE}" type="presParOf" srcId="{63850AAA-62DE-4302-AD8F-2EF382880376}" destId="{749A062D-9ED9-4E8D-80D5-E1E7408B4C2E}" srcOrd="1" destOrd="0" presId="urn:microsoft.com/office/officeart/2018/5/layout/IconCircleLabelList"/>
    <dgm:cxn modelId="{E9CF58F4-988B-4A21-950F-DE3F99D8B6F4}" type="presParOf" srcId="{63850AAA-62DE-4302-AD8F-2EF382880376}" destId="{89EE26A2-7683-43E4-8213-0651034C9027}" srcOrd="2" destOrd="0" presId="urn:microsoft.com/office/officeart/2018/5/layout/IconCircleLabelList"/>
    <dgm:cxn modelId="{DC7E90B4-00DA-4835-A820-AA5C2903A36B}" type="presParOf" srcId="{63850AAA-62DE-4302-AD8F-2EF382880376}" destId="{16F9630E-2674-447B-AF0B-8176EF8B9B2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C969E9-C7B5-4300-8338-7A4C0F2E38BF}">
      <dsp:nvSpPr>
        <dsp:cNvPr id="0" name=""/>
        <dsp:cNvSpPr/>
      </dsp:nvSpPr>
      <dsp:spPr>
        <a:xfrm>
          <a:off x="1069406" y="152930"/>
          <a:ext cx="1498076" cy="14980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1E2F2-36D5-4687-A446-AA83F7C88857}">
      <dsp:nvSpPr>
        <dsp:cNvPr id="0" name=""/>
        <dsp:cNvSpPr/>
      </dsp:nvSpPr>
      <dsp:spPr>
        <a:xfrm>
          <a:off x="1388669" y="472192"/>
          <a:ext cx="859552" cy="8595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67338-400C-4E6D-8FBC-8BA0A2BCEDA6}">
      <dsp:nvSpPr>
        <dsp:cNvPr id="0" name=""/>
        <dsp:cNvSpPr/>
      </dsp:nvSpPr>
      <dsp:spPr>
        <a:xfrm>
          <a:off x="590513" y="2117621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Introduction</a:t>
          </a:r>
        </a:p>
      </dsp:txBody>
      <dsp:txXfrm>
        <a:off x="590513" y="2117621"/>
        <a:ext cx="2455862" cy="720000"/>
      </dsp:txXfrm>
    </dsp:sp>
    <dsp:sp modelId="{A970E8E7-FF11-4C62-871B-74E1AD858212}">
      <dsp:nvSpPr>
        <dsp:cNvPr id="0" name=""/>
        <dsp:cNvSpPr/>
      </dsp:nvSpPr>
      <dsp:spPr>
        <a:xfrm>
          <a:off x="3955045" y="152930"/>
          <a:ext cx="1498076" cy="149807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DEEE6-7316-42F4-ADA1-FF26CB32A23F}">
      <dsp:nvSpPr>
        <dsp:cNvPr id="0" name=""/>
        <dsp:cNvSpPr/>
      </dsp:nvSpPr>
      <dsp:spPr>
        <a:xfrm>
          <a:off x="4274308" y="472192"/>
          <a:ext cx="859552" cy="8595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B600F-3743-47F1-83CF-BF6A0E582D36}">
      <dsp:nvSpPr>
        <dsp:cNvPr id="0" name=""/>
        <dsp:cNvSpPr/>
      </dsp:nvSpPr>
      <dsp:spPr>
        <a:xfrm>
          <a:off x="3476152" y="2117621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Objectives</a:t>
          </a:r>
        </a:p>
      </dsp:txBody>
      <dsp:txXfrm>
        <a:off x="3476152" y="2117621"/>
        <a:ext cx="2455862" cy="720000"/>
      </dsp:txXfrm>
    </dsp:sp>
    <dsp:sp modelId="{69A30654-F823-4E2F-84F2-51A9E853F186}">
      <dsp:nvSpPr>
        <dsp:cNvPr id="0" name=""/>
        <dsp:cNvSpPr/>
      </dsp:nvSpPr>
      <dsp:spPr>
        <a:xfrm>
          <a:off x="6840684" y="152930"/>
          <a:ext cx="1498076" cy="149807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4A3A6-5D96-4193-9FE4-BD9486B704DC}">
      <dsp:nvSpPr>
        <dsp:cNvPr id="0" name=""/>
        <dsp:cNvSpPr/>
      </dsp:nvSpPr>
      <dsp:spPr>
        <a:xfrm>
          <a:off x="7159946" y="472192"/>
          <a:ext cx="859552" cy="8595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1E236-9115-47D8-B77F-82FC2935656C}">
      <dsp:nvSpPr>
        <dsp:cNvPr id="0" name=""/>
        <dsp:cNvSpPr/>
      </dsp:nvSpPr>
      <dsp:spPr>
        <a:xfrm>
          <a:off x="6361791" y="2117621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Tools used for Data analysis and their limitations</a:t>
          </a:r>
        </a:p>
      </dsp:txBody>
      <dsp:txXfrm>
        <a:off x="6361791" y="2117621"/>
        <a:ext cx="2455862" cy="720000"/>
      </dsp:txXfrm>
    </dsp:sp>
    <dsp:sp modelId="{062E6720-DE5E-4FCD-8BDE-DACE7EA84051}">
      <dsp:nvSpPr>
        <dsp:cNvPr id="0" name=""/>
        <dsp:cNvSpPr/>
      </dsp:nvSpPr>
      <dsp:spPr>
        <a:xfrm>
          <a:off x="9726323" y="152930"/>
          <a:ext cx="1498076" cy="149807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31D72-F459-463F-9323-EF9336284C55}">
      <dsp:nvSpPr>
        <dsp:cNvPr id="0" name=""/>
        <dsp:cNvSpPr/>
      </dsp:nvSpPr>
      <dsp:spPr>
        <a:xfrm>
          <a:off x="10045585" y="472192"/>
          <a:ext cx="859552" cy="8595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DD17E-499A-41EF-8983-C3D7B96FE110}">
      <dsp:nvSpPr>
        <dsp:cNvPr id="0" name=""/>
        <dsp:cNvSpPr/>
      </dsp:nvSpPr>
      <dsp:spPr>
        <a:xfrm>
          <a:off x="9247430" y="2117621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Dashboard</a:t>
          </a:r>
        </a:p>
      </dsp:txBody>
      <dsp:txXfrm>
        <a:off x="9247430" y="2117621"/>
        <a:ext cx="2455862" cy="720000"/>
      </dsp:txXfrm>
    </dsp:sp>
    <dsp:sp modelId="{A120DC5F-1205-496A-8D77-C0F2A08BF357}">
      <dsp:nvSpPr>
        <dsp:cNvPr id="0" name=""/>
        <dsp:cNvSpPr/>
      </dsp:nvSpPr>
      <dsp:spPr>
        <a:xfrm>
          <a:off x="2512226" y="3451586"/>
          <a:ext cx="1498076" cy="149807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DD9059-9952-467E-B19E-3A80780475A4}">
      <dsp:nvSpPr>
        <dsp:cNvPr id="0" name=""/>
        <dsp:cNvSpPr/>
      </dsp:nvSpPr>
      <dsp:spPr>
        <a:xfrm>
          <a:off x="2831488" y="3770849"/>
          <a:ext cx="859552" cy="85955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5CAB5-A90B-4298-BD35-E26DBEC6AA9D}">
      <dsp:nvSpPr>
        <dsp:cNvPr id="0" name=""/>
        <dsp:cNvSpPr/>
      </dsp:nvSpPr>
      <dsp:spPr>
        <a:xfrm>
          <a:off x="2033333" y="5416277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Findings</a:t>
          </a:r>
        </a:p>
      </dsp:txBody>
      <dsp:txXfrm>
        <a:off x="2033333" y="5416277"/>
        <a:ext cx="2455862" cy="720000"/>
      </dsp:txXfrm>
    </dsp:sp>
    <dsp:sp modelId="{C360AC7B-5F0A-4280-A0E6-F3A96A0D6A9A}">
      <dsp:nvSpPr>
        <dsp:cNvPr id="0" name=""/>
        <dsp:cNvSpPr/>
      </dsp:nvSpPr>
      <dsp:spPr>
        <a:xfrm>
          <a:off x="5397865" y="3451586"/>
          <a:ext cx="1498076" cy="14980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725E9-2C32-45A1-A7E4-6CED74815A26}">
      <dsp:nvSpPr>
        <dsp:cNvPr id="0" name=""/>
        <dsp:cNvSpPr/>
      </dsp:nvSpPr>
      <dsp:spPr>
        <a:xfrm>
          <a:off x="5717127" y="3770849"/>
          <a:ext cx="859552" cy="85955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BD770-F3EA-44FE-A64C-EE350ACC8C35}">
      <dsp:nvSpPr>
        <dsp:cNvPr id="0" name=""/>
        <dsp:cNvSpPr/>
      </dsp:nvSpPr>
      <dsp:spPr>
        <a:xfrm>
          <a:off x="4918972" y="5416277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Summary</a:t>
          </a:r>
        </a:p>
      </dsp:txBody>
      <dsp:txXfrm>
        <a:off x="4918972" y="5416277"/>
        <a:ext cx="2455862" cy="720000"/>
      </dsp:txXfrm>
    </dsp:sp>
    <dsp:sp modelId="{09179C11-C19F-482D-9FDC-CDA095424778}">
      <dsp:nvSpPr>
        <dsp:cNvPr id="0" name=""/>
        <dsp:cNvSpPr/>
      </dsp:nvSpPr>
      <dsp:spPr>
        <a:xfrm>
          <a:off x="8283504" y="3451586"/>
          <a:ext cx="1498076" cy="149807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9A062D-9ED9-4E8D-80D5-E1E7408B4C2E}">
      <dsp:nvSpPr>
        <dsp:cNvPr id="0" name=""/>
        <dsp:cNvSpPr/>
      </dsp:nvSpPr>
      <dsp:spPr>
        <a:xfrm>
          <a:off x="8602766" y="3770849"/>
          <a:ext cx="859552" cy="85955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9630E-2674-447B-AF0B-8176EF8B9B21}">
      <dsp:nvSpPr>
        <dsp:cNvPr id="0" name=""/>
        <dsp:cNvSpPr/>
      </dsp:nvSpPr>
      <dsp:spPr>
        <a:xfrm>
          <a:off x="7804610" y="5416277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Conclusion</a:t>
          </a:r>
        </a:p>
      </dsp:txBody>
      <dsp:txXfrm>
        <a:off x="7804610" y="5416277"/>
        <a:ext cx="24558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17A6F-C65D-44B3-AE21-C7CFBB3EF49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77E10-67FD-4A60-8341-8E2CD890BA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77E10-67FD-4A60-8341-8E2CD890BAE1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36626" y="5576888"/>
            <a:ext cx="16414750" cy="1624013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39800" y="7410450"/>
            <a:ext cx="16424276" cy="1471613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6884195"/>
            <a:ext cx="15773400" cy="2250281"/>
          </a:xfrm>
        </p:spPr>
        <p:txBody>
          <a:bodyPr/>
          <a:lstStyle>
            <a:lvl1pPr marL="0" indent="0">
              <a:buNone/>
              <a:defRPr sz="3600"/>
            </a:lvl1pPr>
            <a:lvl2pPr marL="685800" indent="0">
              <a:buNone/>
              <a:defRPr sz="3000"/>
            </a:lvl2pPr>
            <a:lvl3pPr marL="1371600" indent="0">
              <a:buNone/>
              <a:defRPr sz="27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62125"/>
            <a:ext cx="8077200" cy="742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1762125"/>
            <a:ext cx="8077200" cy="742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6" y="2521745"/>
            <a:ext cx="7737474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6" y="3757613"/>
            <a:ext cx="7737474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5576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6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6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6" y="1481138"/>
            <a:ext cx="9258300" cy="7310438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285750"/>
            <a:ext cx="4114800" cy="8905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85750"/>
            <a:ext cx="12039600" cy="8905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914400" y="285750"/>
            <a:ext cx="16459200" cy="87392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914400" y="1762125"/>
            <a:ext cx="16459200" cy="7429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100"/>
            </a:lvl1pPr>
          </a:lstStyle>
          <a:p>
            <a:fld id="{1D8BD707-D9CF-40AE-B4C6-C98DA3205C09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2100"/>
            </a:lvl1pPr>
          </a:lstStyle>
          <a:p>
            <a:endParaRPr lang="en-US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100"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514350" indent="-514350" algn="l" rtl="0" fontAlgn="base">
        <a:spcBef>
          <a:spcPct val="30000"/>
        </a:spcBef>
        <a:spcAft>
          <a:spcPct val="0"/>
        </a:spcAft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rtl="0" fontAlgn="base">
        <a:spcBef>
          <a:spcPct val="30000"/>
        </a:spcBef>
        <a:spcAft>
          <a:spcPct val="0"/>
        </a:spcAft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rtl="0" fontAlgn="base">
        <a:spcBef>
          <a:spcPct val="30000"/>
        </a:spcBef>
        <a:spcAft>
          <a:spcPct val="0"/>
        </a:spcAft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rtl="0" fontAlgn="base">
        <a:spcBef>
          <a:spcPct val="30000"/>
        </a:spcBef>
        <a:spcAft>
          <a:spcPct val="0"/>
        </a:spcAft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rtl="0" fontAlgn="base">
        <a:spcBef>
          <a:spcPct val="30000"/>
        </a:spcBef>
        <a:spcAft>
          <a:spcPct val="0"/>
        </a:spcAft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3EB1D-CC21-DC80-BBBC-C844F1EA01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b="1" dirty="0"/>
              <a:t>Analysis of Supply Chain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29DBA-EAF9-7226-B324-796AA8F38F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8275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4546879" y="3070817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482455" y="953770"/>
          <a:ext cx="5208905" cy="7381875"/>
        </p:xfrm>
        <a:graphic>
          <a:graphicData uri="http://schemas.openxmlformats.org/drawingml/2006/table">
            <a:tbl>
              <a:tblPr/>
              <a:tblGrid>
                <a:gridCol w="79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6960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1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Introduction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230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2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Objectives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130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3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Tools &amp;</a:t>
                      </a:r>
                    </a:p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Methodology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8865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4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Limitations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4145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5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Summary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2545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6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Conclusion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28700" y="4438650"/>
            <a:ext cx="6750696" cy="873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70"/>
              </a:lnSpc>
              <a:spcBef>
                <a:spcPct val="0"/>
              </a:spcBef>
            </a:pPr>
            <a:r>
              <a:rPr lang="en-US" sz="5810">
                <a:solidFill>
                  <a:schemeClr val="accent6">
                    <a:lumMod val="75000"/>
                  </a:schemeClr>
                </a:solidFill>
                <a:latin typeface="Open Sans Extra Bold" panose="020B0906030804020204"/>
              </a:rPr>
              <a:t>Table of Contents</a:t>
            </a:r>
            <a:r>
              <a:rPr lang="en-US" sz="5810">
                <a:solidFill>
                  <a:srgbClr val="000000"/>
                </a:solidFill>
                <a:latin typeface="Open Sans Extra Bold" panose="020B0906030804020204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553723" y="-544176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295617" y="2476750"/>
            <a:ext cx="9018775" cy="144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80"/>
              </a:lnSpc>
              <a:spcBef>
                <a:spcPct val="0"/>
              </a:spcBef>
            </a:pPr>
            <a:r>
              <a:rPr lang="en-IN" altLang="en-US" sz="4800" u="none">
                <a:solidFill>
                  <a:schemeClr val="accent1"/>
                </a:solidFill>
                <a:latin typeface="Open Sans Extra Bold" panose="020B0906030804020204"/>
              </a:rPr>
              <a:t>INTRODUCTION: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5400" y="4229100"/>
            <a:ext cx="16152495" cy="4472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endParaRPr lang="en-US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87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dashboard designed to provide Real-Time visibility into Supply chain performance</a:t>
            </a:r>
          </a:p>
          <a:p>
            <a:pPr marL="457200" indent="-457200" algn="just">
              <a:lnSpc>
                <a:spcPts val="387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87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logistics managers, procurement teams, and executives monitor operations</a:t>
            </a:r>
          </a:p>
          <a:p>
            <a:pPr marL="457200" indent="-457200" algn="just">
              <a:lnSpc>
                <a:spcPts val="387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87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data-driven decisions to reduce costs and improve efficiency.</a:t>
            </a:r>
          </a:p>
          <a:p>
            <a:pPr indent="0" algn="just">
              <a:lnSpc>
                <a:spcPts val="3875"/>
              </a:lnSpc>
              <a:buFont typeface="Arial" panose="020B0604020202020204" pitchFamily="34" charset="0"/>
              <a:buNone/>
            </a:pPr>
            <a:endParaRPr lang="en-IN" altLang="en-US" sz="4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00172" y="-5426432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143000" y="2095500"/>
            <a:ext cx="686117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5200"/>
              </a:lnSpc>
            </a:pPr>
            <a:r>
              <a:rPr lang="en-IN" altLang="en-US" sz="5400">
                <a:solidFill>
                  <a:srgbClr val="F3541A"/>
                </a:solidFill>
                <a:latin typeface="Open Sans Extra Bold" panose="020B0906030804020204"/>
              </a:rPr>
              <a:t> </a:t>
            </a:r>
            <a:r>
              <a:rPr lang="en-IN" altLang="en-US" sz="5400">
                <a:solidFill>
                  <a:schemeClr val="accent1"/>
                </a:solidFill>
                <a:latin typeface="Open Sans Extra Bold" panose="020B0906030804020204"/>
              </a:rPr>
              <a:t>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0489" y="3009810"/>
            <a:ext cx="16436696" cy="532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5"/>
              </a:lnSpc>
            </a:pPr>
            <a:endParaRPr lang="en-US" altLang="en-US" sz="3200" dirty="0">
              <a:solidFill>
                <a:srgbClr val="000000"/>
              </a:solidFill>
              <a:latin typeface="Canva Sans" panose="020B0503030501040103"/>
            </a:endParaRP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latin typeface="Canva Sans" panose="020B0503030501040103"/>
              </a:rPr>
              <a:t>Identify and analyze core supply chain KPI’s.</a:t>
            </a: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latin typeface="Canva Sans" panose="020B0503030501040103"/>
            </a:endParaRP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latin typeface="Canva Sans" panose="020B0503030501040103"/>
              </a:rPr>
              <a:t>Track performance across Orders, Inventory, Procurement, Logistics &amp; Demand.</a:t>
            </a: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latin typeface="Canva Sans" panose="020B0503030501040103"/>
            </a:endParaRP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latin typeface="Canva Sans" panose="020B0503030501040103"/>
              </a:rPr>
              <a:t>Provide interactive dashboards with actionable insights.</a:t>
            </a: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latin typeface="Canva Sans" panose="020B0503030501040103"/>
            </a:endParaRP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latin typeface="Canva Sans" panose="020B0503030501040103"/>
              </a:rPr>
              <a:t>Support forecasting and process optimation.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143000" y="1181100"/>
            <a:ext cx="9144000" cy="758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altLang="en-US" sz="4335">
                <a:solidFill>
                  <a:schemeClr val="accent1"/>
                </a:solidFill>
                <a:latin typeface="Open Sans Extra Bold" panose="020B0906030804020204"/>
                <a:sym typeface="+mn-ea"/>
              </a:rPr>
              <a:t>Tools Used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295400" y="2324100"/>
            <a:ext cx="13587730" cy="6684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Excel </a:t>
            </a:r>
            <a:r>
              <a:rPr lang="en-US" altLang="en-US" sz="3200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→ Data cleaning &amp; initial dashboard creation.</a:t>
            </a:r>
          </a:p>
          <a:p>
            <a:endParaRPr lang="en-US" altLang="en-US" sz="3200" dirty="0">
              <a:solidFill>
                <a:srgbClr val="000000"/>
              </a:solidFill>
              <a:latin typeface="Canva Sans" panose="020B0503030501040103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SQL</a:t>
            </a:r>
            <a:r>
              <a:rPr lang="en-US" altLang="en-US" sz="3200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 → Loading loan datasets into a structured database.</a:t>
            </a:r>
          </a:p>
          <a:p>
            <a:endParaRPr lang="en-US" altLang="en-US" sz="3200" dirty="0">
              <a:solidFill>
                <a:srgbClr val="000000"/>
              </a:solidFill>
              <a:latin typeface="Canva Sans" panose="020B0503030501040103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Power BI / Tableau</a:t>
            </a:r>
            <a:r>
              <a:rPr lang="en-US" altLang="en-US" sz="3200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 → Data modeling, visualization, interactive dashboards.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b="1" dirty="0">
              <a:solidFill>
                <a:schemeClr val="accent6">
                  <a:lumMod val="75000"/>
                </a:schemeClr>
              </a:solidFill>
              <a:latin typeface="Canva Sans" panose="020B0503030501040103"/>
              <a:sym typeface="+mn-ea"/>
            </a:endParaRPr>
          </a:p>
          <a:p>
            <a:r>
              <a:rPr lang="en-IN" altLang="en-US" sz="3200">
                <a:solidFill>
                  <a:schemeClr val="accent1"/>
                </a:solidFill>
                <a:latin typeface="Open Sans Extra Bold" panose="020B0906030804020204"/>
                <a:sym typeface="+mn-ea"/>
              </a:rPr>
              <a:t> Methodology:</a:t>
            </a:r>
            <a:endParaRPr lang="en-US" altLang="en-US" sz="3200" dirty="0">
              <a:solidFill>
                <a:schemeClr val="accent1"/>
              </a:solidFill>
              <a:latin typeface="Canva Sans" panose="020B0503030501040103"/>
              <a:sym typeface="+mn-ea"/>
            </a:endParaRPr>
          </a:p>
          <a:p>
            <a:endParaRPr lang="en-US" altLang="en-US" sz="3200" dirty="0">
              <a:solidFill>
                <a:srgbClr val="000000"/>
              </a:solidFill>
              <a:latin typeface="Canva Sans" panose="020B0503030501040103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Data cleaning , SQL Modeling, KPI Identification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Dashboard Development, QA &amp; Validation   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6781800" y="419100"/>
            <a:ext cx="6143625" cy="7670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5200"/>
              </a:lnSpc>
            </a:pPr>
            <a:r>
              <a:rPr lang="en-IN" altLang="en-US" sz="3600" dirty="0">
                <a:solidFill>
                  <a:schemeClr val="accent6">
                    <a:lumMod val="75000"/>
                  </a:schemeClr>
                </a:solidFill>
                <a:latin typeface="Open Sans Extra Bold" panose="020B0906030804020204"/>
              </a:rPr>
              <a:t> </a:t>
            </a:r>
            <a:r>
              <a:rPr lang="en-IN" altLang="en-US" sz="36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EXCEL DASHBOARD</a:t>
            </a:r>
            <a:r>
              <a:rPr lang="en-US" sz="4335" dirty="0">
                <a:solidFill>
                  <a:srgbClr val="000000"/>
                </a:solidFill>
                <a:latin typeface="Open Sans Extra Bold" panose="020B0906030804020204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6959" y="1485810"/>
            <a:ext cx="16436696" cy="1353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15"/>
              </a:lnSpc>
            </a:pPr>
            <a:endParaRPr dirty="0"/>
          </a:p>
          <a:p>
            <a:pPr lvl="3" algn="just" fontAlgn="base">
              <a:lnSpc>
                <a:spcPct val="150000"/>
              </a:lnSpc>
            </a:pPr>
            <a:endParaRPr lang="en-US" sz="3295" dirty="0">
              <a:solidFill>
                <a:srgbClr val="000000"/>
              </a:solidFill>
              <a:latin typeface="Canva Sans" panose="020B0503030501040103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r="891"/>
          <a:stretch>
            <a:fillRect/>
          </a:stretch>
        </p:blipFill>
        <p:spPr>
          <a:xfrm>
            <a:off x="381000" y="1714500"/>
            <a:ext cx="17526000" cy="778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00172" y="-5426432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6248400" y="114300"/>
            <a:ext cx="7708265" cy="6292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ts val="4615"/>
              </a:lnSpc>
            </a:pPr>
            <a:r>
              <a:rPr lang="en-I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POWERBI DASHBOARD</a:t>
            </a:r>
            <a:endParaRPr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lvl="3" algn="just" fontAlgn="base">
              <a:lnSpc>
                <a:spcPct val="150000"/>
              </a:lnSpc>
            </a:pPr>
            <a:endParaRPr lang="en-US" sz="3200" dirty="0">
              <a:solidFill>
                <a:schemeClr val="accent2">
                  <a:lumMod val="60000"/>
                  <a:lumOff val="40000"/>
                </a:schemeClr>
              </a:solidFill>
              <a:latin typeface="Canva Sans" panose="020B0503030501040103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rcRect l="12500" t="12148" r="14000" b="6010"/>
          <a:stretch>
            <a:fillRect/>
          </a:stretch>
        </p:blipFill>
        <p:spPr>
          <a:xfrm>
            <a:off x="657860" y="688340"/>
            <a:ext cx="17034510" cy="9270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46879" y="3070817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53723" y="-544176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5639065" y="-266402"/>
            <a:ext cx="8856080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40"/>
              </a:lnSpc>
              <a:spcBef>
                <a:spcPct val="0"/>
              </a:spcBef>
            </a:pPr>
            <a:r>
              <a:rPr lang="en-IN" altLang="en-US" sz="4000">
                <a:solidFill>
                  <a:srgbClr val="E6682B"/>
                </a:solidFill>
                <a:latin typeface="Open Sans Extra Bold" panose="020B0906030804020204"/>
              </a:rPr>
              <a:t> </a:t>
            </a:r>
            <a:r>
              <a:rPr lang="en-IN" altLang="en-US" sz="400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TABLEAU DASHBOARD</a:t>
            </a:r>
            <a:r>
              <a:rPr lang="en-US" sz="4000">
                <a:solidFill>
                  <a:srgbClr val="E6682B"/>
                </a:solidFill>
                <a:latin typeface="Open Sans Extra Bold" panose="020B0906030804020204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1272" y="1943100"/>
            <a:ext cx="16285455" cy="1096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75"/>
              </a:lnSpc>
            </a:pPr>
            <a:endParaRPr lang="en-GB" sz="3200" dirty="0">
              <a:solidFill>
                <a:srgbClr val="000000"/>
              </a:solidFill>
              <a:latin typeface="Open Sans Bold" panose="020B0806030504020204"/>
            </a:endParaRPr>
          </a:p>
          <a:p>
            <a:pPr algn="just">
              <a:lnSpc>
                <a:spcPts val="4275"/>
              </a:lnSpc>
            </a:pPr>
            <a:endParaRPr lang="en-US" sz="2650" dirty="0">
              <a:solidFill>
                <a:srgbClr val="000000"/>
              </a:solidFill>
              <a:latin typeface="Open Sans" panose="020B0606030504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 l="10000" t="6499" b="5438"/>
          <a:stretch>
            <a:fillRect/>
          </a:stretch>
        </p:blipFill>
        <p:spPr>
          <a:xfrm>
            <a:off x="462280" y="826770"/>
            <a:ext cx="17218660" cy="9253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6705600" y="106680"/>
            <a:ext cx="6096000" cy="845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0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SQL SNAPSHOTS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r="6926"/>
          <a:stretch>
            <a:fillRect/>
          </a:stretch>
        </p:blipFill>
        <p:spPr>
          <a:xfrm>
            <a:off x="-76200" y="723900"/>
            <a:ext cx="8705850" cy="68364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r="4000"/>
          <a:stretch>
            <a:fillRect/>
          </a:stretch>
        </p:blipFill>
        <p:spPr>
          <a:xfrm>
            <a:off x="9144000" y="800100"/>
            <a:ext cx="8569325" cy="43630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r="4040"/>
          <a:stretch>
            <a:fillRect/>
          </a:stretch>
        </p:blipFill>
        <p:spPr>
          <a:xfrm>
            <a:off x="8915400" y="5600700"/>
            <a:ext cx="9016365" cy="41675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93463" y="1457722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3" y="0"/>
                </a:lnTo>
                <a:lnTo>
                  <a:pt x="10569933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53723" y="-544176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533145" y="114062"/>
            <a:ext cx="9018775" cy="144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80"/>
              </a:lnSpc>
              <a:spcBef>
                <a:spcPct val="0"/>
              </a:spcBef>
            </a:pPr>
            <a:r>
              <a:rPr lang="en-IN" altLang="en-US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LIMITATIONS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599" y="1458256"/>
            <a:ext cx="15419069" cy="7115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485900" indent="-514350" algn="just" fontAlgn="base">
              <a:lnSpc>
                <a:spcPct val="150000"/>
              </a:lnSpc>
              <a:buAutoNum type="arabicPeriod"/>
            </a:pPr>
            <a:endParaRPr lang="en-GB" sz="2830" b="1" dirty="0">
              <a:solidFill>
                <a:srgbClr val="1F1F1F"/>
              </a:solidFill>
              <a:effectLst/>
              <a:latin typeface="Canva Sans" panose="020B0503030501040103" charset="0"/>
              <a:ea typeface="Times New Roman" panose="02020603050405020304" pitchFamily="18" charset="0"/>
            </a:endParaRPr>
          </a:p>
          <a:p>
            <a:pPr marL="142875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000000"/>
                </a:solidFill>
                <a:latin typeface="+mj-lt"/>
                <a:cs typeface="+mj-lt"/>
              </a:rPr>
              <a:t>Data Dependency:</a:t>
            </a:r>
            <a:r>
              <a:rPr lang="en-US" altLang="en-US" sz="4000" dirty="0">
                <a:solidFill>
                  <a:srgbClr val="000000"/>
                </a:solidFill>
                <a:latin typeface="+mj-lt"/>
                <a:cs typeface="+mj-lt"/>
              </a:rPr>
              <a:t> Accuracy depends on </a:t>
            </a:r>
            <a:r>
              <a:rPr lang="en-IN" altLang="en-US" sz="4000" dirty="0">
                <a:solidFill>
                  <a:srgbClr val="000000"/>
                </a:solidFill>
                <a:latin typeface="+mj-lt"/>
                <a:cs typeface="+mj-lt"/>
              </a:rPr>
              <a:t>Historical Data Quality.</a:t>
            </a:r>
            <a:r>
              <a:rPr lang="en-US" altLang="en-US" sz="4000" dirty="0">
                <a:solidFill>
                  <a:srgbClr val="000000"/>
                </a:solidFill>
                <a:latin typeface="+mj-lt"/>
                <a:cs typeface="+mj-lt"/>
              </a:rPr>
              <a:t>.</a:t>
            </a:r>
          </a:p>
          <a:p>
            <a:pPr marL="142875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000000"/>
                </a:solidFill>
                <a:latin typeface="+mj-lt"/>
                <a:cs typeface="+mj-lt"/>
              </a:rPr>
              <a:t>Data Privacy:</a:t>
            </a:r>
            <a:r>
              <a:rPr lang="en-US" altLang="en-US" sz="4000" dirty="0">
                <a:solidFill>
                  <a:srgbClr val="000000"/>
                </a:solidFill>
                <a:latin typeface="+mj-lt"/>
                <a:cs typeface="+mj-lt"/>
              </a:rPr>
              <a:t> </a:t>
            </a:r>
            <a:r>
              <a:rPr lang="en-IN" altLang="en-US" sz="4000" dirty="0">
                <a:solidFill>
                  <a:srgbClr val="000000"/>
                </a:solidFill>
                <a:latin typeface="+mj-lt"/>
                <a:cs typeface="+mj-lt"/>
              </a:rPr>
              <a:t>Does not capture quantitative supplier/ cutomer issues.</a:t>
            </a:r>
            <a:endParaRPr lang="en-US" altLang="en-US" sz="4000" b="1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142875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000000"/>
                </a:solidFill>
                <a:latin typeface="+mj-lt"/>
                <a:cs typeface="+mj-lt"/>
              </a:rPr>
              <a:t>Time Lag: </a:t>
            </a:r>
            <a:r>
              <a:rPr lang="en-US" altLang="en-US" sz="4000" dirty="0">
                <a:solidFill>
                  <a:srgbClr val="000000"/>
                </a:solidFill>
                <a:latin typeface="+mj-lt"/>
                <a:cs typeface="+mj-lt"/>
              </a:rPr>
              <a:t>Dashboard may not reflect real-time data.</a:t>
            </a:r>
          </a:p>
          <a:p>
            <a:pPr marL="142875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000000"/>
                </a:solidFill>
                <a:latin typeface="+mj-lt"/>
                <a:cs typeface="+mj-lt"/>
              </a:rPr>
              <a:t>External Factors:</a:t>
            </a:r>
            <a:r>
              <a:rPr lang="en-IN" altLang="en-US" sz="4000" b="1" dirty="0">
                <a:solidFill>
                  <a:srgbClr val="000000"/>
                </a:solidFill>
                <a:latin typeface="+mj-lt"/>
                <a:cs typeface="+mj-lt"/>
              </a:rPr>
              <a:t> </a:t>
            </a:r>
            <a:r>
              <a:rPr lang="en-IN" altLang="en-US" sz="4000" dirty="0">
                <a:solidFill>
                  <a:srgbClr val="000000"/>
                </a:solidFill>
                <a:latin typeface="+mj-lt"/>
                <a:cs typeface="+mj-lt"/>
              </a:rPr>
              <a:t>Forecasts limited by external market fluctuations.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46879" y="3070817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53723" y="-537191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38087" y="519876"/>
            <a:ext cx="11601874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0"/>
              </a:lnSpc>
              <a:spcBef>
                <a:spcPct val="0"/>
              </a:spcBef>
            </a:pPr>
            <a:r>
              <a:rPr lang="en-IN" altLang="en-US" sz="4000" dirty="0">
                <a:solidFill>
                  <a:srgbClr val="E6682B"/>
                </a:solidFill>
                <a:latin typeface="Open Sans Extra Bold" panose="020B0906030804020204"/>
              </a:rPr>
              <a:t> </a:t>
            </a:r>
            <a:r>
              <a:rPr lang="en-IN" altLang="en-US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KEY FINDINGS</a:t>
            </a:r>
            <a:r>
              <a:rPr lang="en-US" sz="4000" dirty="0">
                <a:solidFill>
                  <a:srgbClr val="E6682B"/>
                </a:solidFill>
                <a:latin typeface="Open Sans Extra Bold" panose="020B0906030804020204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6026" y="1409753"/>
            <a:ext cx="16895948" cy="836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15"/>
              </a:lnSpc>
            </a:pPr>
            <a:endParaRPr lang="en-US" altLang="en-US" sz="3345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Orders and Revenue are growing, but Average order value changes a lot across regions.</a:t>
            </a: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Lead time is Higher in certain areas- delay in replineshment.</a:t>
            </a: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Transportation cost is higher compared to procurement cost.</a:t>
            </a: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On-Time Delivery rate is Low.</a:t>
            </a: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Many delays Happen in express shipping.</a:t>
            </a: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Forecasts don’t always match actual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46879" y="3070817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53723" y="-544176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057685" y="799841"/>
            <a:ext cx="15185739" cy="130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IN" altLang="en-US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SUMMARY</a:t>
            </a:r>
            <a:r>
              <a:rPr lang="en-US" sz="4000" dirty="0">
                <a:solidFill>
                  <a:srgbClr val="E6682B"/>
                </a:solidFill>
                <a:latin typeface="Open Sans Extra Bold" panose="020B0906030804020204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8955" y="2552657"/>
            <a:ext cx="15797313" cy="5170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19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Supply chain Dashboard provides end-to-end visibility.</a:t>
            </a:r>
          </a:p>
          <a:p>
            <a:pPr marL="1219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KPI’s highlight orders,costs,logistics,demand fulfilment.</a:t>
            </a:r>
          </a:p>
          <a:p>
            <a:pPr marL="1219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Interactive dashboards enable better forecasting &amp; efficiency.</a:t>
            </a:r>
          </a:p>
          <a:p>
            <a:pPr marL="1219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Supports bussiness decitions with data-backed insights.</a:t>
            </a:r>
            <a:endParaRPr lang="en-US" altLang="en-US" sz="32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762000" algn="just">
              <a:lnSpc>
                <a:spcPct val="150000"/>
              </a:lnSpc>
            </a:pPr>
            <a:endParaRPr lang="en-US" altLang="en-US" sz="32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1219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32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Freeform 3"/>
          <p:cNvSpPr/>
          <p:nvPr/>
        </p:nvSpPr>
        <p:spPr>
          <a:xfrm>
            <a:off x="6629288" y="-5447480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781444" y="3695657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53723" y="-544176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840213"/>
            <a:ext cx="9018775" cy="144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80"/>
              </a:lnSpc>
              <a:spcBef>
                <a:spcPct val="0"/>
              </a:spcBef>
            </a:pPr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Conclusion</a:t>
            </a:r>
            <a:r>
              <a:rPr lang="en-US" sz="9400" dirty="0">
                <a:solidFill>
                  <a:srgbClr val="E6682B"/>
                </a:solidFill>
                <a:latin typeface="Open Sans Extra Bold" panose="020B0906030804020204"/>
              </a:rPr>
              <a:t>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0672" y="2552700"/>
            <a:ext cx="16812925" cy="4636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indent="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None/>
              <a:tabLst>
                <a:tab pos="477520" algn="l"/>
              </a:tabLst>
            </a:pPr>
            <a:endParaRPr lang="en-US" altLang="en-US" sz="3200" b="1" kern="100" dirty="0">
              <a:effectLst/>
              <a:latin typeface="Canva Sans" panose="020B0503030501040103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1430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77520" algn="l"/>
              </a:tabLst>
            </a:pPr>
            <a:r>
              <a:rPr lang="en-IN" altLang="en-US" sz="4000" kern="100" dirty="0">
                <a:effectLst/>
                <a:latin typeface="Canva Sans" panose="020B0503030501040103" charset="0"/>
                <a:ea typeface="Calibri" panose="020F0502020204030204" charset="0"/>
                <a:cs typeface="Times New Roman" panose="02020603050405020304" pitchFamily="18" charset="0"/>
              </a:rPr>
              <a:t>Project demonstrated how tools transform  raw supply chain data into insights.</a:t>
            </a:r>
          </a:p>
          <a:p>
            <a:pPr marL="11430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77520" algn="l"/>
              </a:tabLst>
            </a:pPr>
            <a:r>
              <a:rPr lang="en-IN" altLang="en-US" sz="4000" kern="100" dirty="0">
                <a:effectLst/>
                <a:latin typeface="Canva Sans" panose="020B0503030501040103" charset="0"/>
                <a:ea typeface="Calibri" panose="020F0502020204030204" charset="0"/>
                <a:cs typeface="Times New Roman" panose="02020603050405020304" pitchFamily="18" charset="0"/>
              </a:rPr>
              <a:t>Improved monitoring of orders fulfillment, costs, and delivery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299A-164E-B844-E788-D3F31037D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499" y="4152900"/>
            <a:ext cx="12895002" cy="1981200"/>
          </a:xfrm>
        </p:spPr>
        <p:txBody>
          <a:bodyPr>
            <a:normAutofit/>
          </a:bodyPr>
          <a:lstStyle/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Dashboard</a:t>
            </a:r>
            <a:endParaRPr lang="en-IN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599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8872-E0C5-B8A4-92EA-92437301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197" y="934872"/>
            <a:ext cx="12895002" cy="1981200"/>
          </a:xfrm>
        </p:spPr>
        <p:txBody>
          <a:bodyPr/>
          <a:lstStyle/>
          <a:p>
            <a:pPr algn="ctr"/>
            <a:r>
              <a:rPr lang="en-US" dirty="0"/>
              <a:t>INDEX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2F0FCD2-D501-7F7C-D22A-9557D30E83AC}"/>
              </a:ext>
            </a:extLst>
          </p:cNvPr>
          <p:cNvGraphicFramePr>
            <a:graphicFrameLocks/>
          </p:cNvGraphicFramePr>
          <p:nvPr/>
        </p:nvGraphicFramePr>
        <p:xfrm>
          <a:off x="1617197" y="2536033"/>
          <a:ext cx="12293807" cy="6289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542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8BB1-8448-2E5B-2407-F384FEC60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0601" y="495113"/>
            <a:ext cx="11650404" cy="2469453"/>
          </a:xfrm>
        </p:spPr>
        <p:txBody>
          <a:bodyPr anchor="ctr"/>
          <a:lstStyle/>
          <a:p>
            <a:pPr algn="ctr"/>
            <a:r>
              <a:rPr lang="en-IN" altLang="en-US" dirty="0">
                <a:latin typeface="Open Sans Extra Bold" panose="020B0906030804020204"/>
              </a:rPr>
              <a:t>Introduction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BC87D-ECAA-76EC-E982-57AE64468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82" y="2616544"/>
            <a:ext cx="13306571" cy="7175345"/>
          </a:xfrm>
        </p:spPr>
        <p:txBody>
          <a:bodyPr>
            <a:normAutofit lnSpcReduction="10000"/>
          </a:bodyPr>
          <a:lstStyle/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IN" sz="285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Supply Chain:-</a:t>
            </a:r>
            <a:r>
              <a:rPr lang="en-IN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network of organizations, people, activities, information, and resources involved in producing and delivering a product or service from suppliers to customers.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IN" sz="285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Inventory:- 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goods and materials a business holds for the purpose of resale, production, or utilization.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285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Inventory in the Supply Chain:- 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connects </a:t>
            </a: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production, warehousing, and distribution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activities within the supply chain.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IN" sz="285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Inventory Management:- 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availability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customer satisfaction.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</a:t>
            </a: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and carrying costs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overall operational efficiency.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en-IN" sz="3000" dirty="0"/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81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FB40D-6BE4-3B34-C863-82B15CC5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1407674"/>
          </a:xfrm>
        </p:spPr>
        <p:txBody>
          <a:bodyPr anchor="ctr"/>
          <a:lstStyle/>
          <a:p>
            <a:pPr algn="ctr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B0885-ECD1-50ED-2F52-4C9FB5D55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1857" y="3597893"/>
            <a:ext cx="16986143" cy="7195782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an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inventory level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meet demand without excessive stock.</a:t>
            </a:r>
          </a:p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wastage, obsolescence, and pilferage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	</a:t>
            </a:r>
          </a:p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production and sales operations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020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3C4C-8C07-512B-41C7-CD759C684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1121070"/>
          </a:xfrm>
        </p:spPr>
        <p:txBody>
          <a:bodyPr anchor="ctr">
            <a:normAutofit/>
          </a:bodyPr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Open Sans Extra Bold" panose="020B0906030804020204"/>
                <a:sym typeface="+mn-ea"/>
              </a:rPr>
              <a:t>Tools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CF3CB-D7F6-8671-F51F-127F2917A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5621" y="3766782"/>
            <a:ext cx="17102379" cy="6520218"/>
          </a:xfrm>
        </p:spPr>
        <p:txBody>
          <a:bodyPr/>
          <a:lstStyle/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Excel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→ Dashboard creation.</a:t>
            </a:r>
          </a:p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SQL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→ Loading datasets into a structured database.</a:t>
            </a:r>
          </a:p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Power BI / Tableau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→ Data modeling, visualization, interactive dashboards.</a:t>
            </a:r>
          </a:p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Visualization Features Used: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Slicers</a:t>
            </a:r>
            <a:r>
              <a:rPr lang="en-IN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(branch, state, product type).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Drill-down charts</a:t>
            </a:r>
            <a:r>
              <a:rPr lang="en-IN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(branch → loan → customer).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KPIs with card visuals</a:t>
            </a:r>
            <a:r>
              <a:rPr lang="en-IN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(Total Loan Amount, Default Rate).</a:t>
            </a: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12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45DE-E312-EBCD-AF2E-953AD8A13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0"/>
            <a:ext cx="15773400" cy="1003110"/>
          </a:xfrm>
        </p:spPr>
        <p:txBody>
          <a:bodyPr>
            <a:normAutofit/>
          </a:bodyPr>
          <a:lstStyle/>
          <a:p>
            <a:pPr algn="ctr"/>
            <a:r>
              <a:rPr lang="en-IN" altLang="en-US" dirty="0">
                <a:solidFill>
                  <a:schemeClr val="accent6">
                    <a:lumMod val="75000"/>
                  </a:schemeClr>
                </a:solidFill>
                <a:latin typeface="Open Sans Extra Bold" panose="020B0906030804020204"/>
              </a:rPr>
              <a:t> EXCEL DASHBOARD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8498F-0023-48CE-7481-2687DFFC9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3597"/>
            <a:ext cx="18288000" cy="920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55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BACA4-213B-9B86-F5BC-A6385933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"/>
            <a:ext cx="15773400" cy="823913"/>
          </a:xfrm>
        </p:spPr>
        <p:txBody>
          <a:bodyPr>
            <a:normAutofit fontScale="90000"/>
          </a:bodyPr>
          <a:lstStyle/>
          <a:p>
            <a:pPr algn="ctr">
              <a:lnSpc>
                <a:spcPts val="6922"/>
              </a:lnSpc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POWERBI DASHBOARD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532B1-30E9-4242-FB2C-03F5DA409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5756"/>
            <a:ext cx="18288000" cy="944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B5A9-E60E-BA02-AA40-DD8CB7D15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"/>
            <a:ext cx="15773400" cy="1047848"/>
          </a:xfrm>
        </p:spPr>
        <p:txBody>
          <a:bodyPr/>
          <a:lstStyle/>
          <a:p>
            <a:pPr algn="ctr"/>
            <a:r>
              <a:rPr lang="en-IN" altLang="en-US" dirty="0">
                <a:solidFill>
                  <a:schemeClr val="accent6"/>
                </a:solidFill>
                <a:latin typeface="Open Sans Extra Bold" panose="020B0906030804020204"/>
              </a:rPr>
              <a:t> TABLEAU DASHBOARD</a:t>
            </a:r>
            <a:r>
              <a:rPr lang="en-US" dirty="0">
                <a:solidFill>
                  <a:schemeClr val="accent6"/>
                </a:solidFill>
                <a:latin typeface="Open Sans Extra Bold" panose="020B0906030804020204"/>
              </a:rPr>
              <a:t> </a:t>
            </a:r>
            <a:endParaRPr lang="en-IN" dirty="0">
              <a:solidFill>
                <a:schemeClr val="accent6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36FD1B-B066-9188-E8BA-94B3D5DCE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2980"/>
            <a:ext cx="18288000" cy="930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27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6781800" y="266700"/>
            <a:ext cx="6096000" cy="845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SQL SNAPSHOTS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338C43-FF1A-D981-E3E6-BEA172DF7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9911"/>
            <a:ext cx="6389577" cy="3151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AE8CDA-89BC-CF3D-715A-D538747F2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799" y="1269911"/>
            <a:ext cx="11274188" cy="32437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DE0858-355D-C792-6F64-BE1ACE1A7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13626"/>
            <a:ext cx="6389577" cy="29994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AD4339-54AB-383A-B34C-EA7937E7A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799" y="4513626"/>
            <a:ext cx="6389577" cy="29994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68C0C1-7FDD-7713-FD00-DFD0969F1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7513093"/>
            <a:ext cx="6389576" cy="26578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E5631E-375D-86B2-BE9D-319AA82E8E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9576" y="7513093"/>
            <a:ext cx="6781800" cy="26435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E442AF8-45D5-E9E6-8F5F-D6FFC7A5B8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53358" y="3527858"/>
            <a:ext cx="5634642" cy="11431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C83B561-CB9B-F967-EB64-50B8A67E0B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53357" y="4834373"/>
            <a:ext cx="5788337" cy="11002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1F1EEA-7897-DB33-7905-65CF3AED12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71376" y="7604845"/>
            <a:ext cx="5116625" cy="26435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C022-7645-7D9A-676F-5A30C9FFE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0601" y="597470"/>
            <a:ext cx="11650404" cy="2469453"/>
          </a:xfrm>
        </p:spPr>
        <p:txBody>
          <a:bodyPr anchor="ctr"/>
          <a:lstStyle/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2D9D3-26A1-27DA-30CB-AEECA6D0B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810" y="2759843"/>
            <a:ext cx="17428190" cy="7527158"/>
          </a:xfrm>
        </p:spPr>
        <p:txBody>
          <a:bodyPr>
            <a:normAutofit/>
          </a:bodyPr>
          <a:lstStyle/>
          <a:p>
            <a:pPr algn="l"/>
            <a:r>
              <a:rPr lang="en-US" sz="33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Insights:</a:t>
            </a:r>
          </a:p>
          <a:p>
            <a:pPr lvl="1" algn="l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are concentrated in the West region and California state.</a:t>
            </a:r>
          </a:p>
          <a:p>
            <a:pPr lvl="1" algn="l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Debit card transactions are the most preferred payment method.</a:t>
            </a:r>
          </a:p>
          <a:p>
            <a:pPr lvl="1" algn="l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and Entertainment products drive the majority of revenue.</a:t>
            </a:r>
          </a:p>
          <a:p>
            <a:pPr lvl="1" algn="l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stores contribute significantly to overall sales, showing possible top-performer concentration.</a:t>
            </a:r>
          </a:p>
          <a:p>
            <a:pPr algn="l"/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979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FA99-FAE4-4394-9088-CCDBE1E83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1431615"/>
          </a:xfrm>
        </p:spPr>
        <p:txBody>
          <a:bodyPr anchor="ctr"/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Open Sans Extra Bold" panose="020B0906030804020204"/>
              </a:rPr>
              <a:t>LIMITATIONS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87903-0CC0-62A7-6BEC-C3E64E8C5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3404" y="3975315"/>
            <a:ext cx="17404596" cy="6311685"/>
          </a:xfrm>
        </p:spPr>
        <p:txBody>
          <a:bodyPr/>
          <a:lstStyle/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Data Dependency: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 Accuracy depends on quality of loan records.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Data Privacy: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 Customer-sensitive data must be secured.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Time Lag: 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Dashboard may not reflect real-time data.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Scope Limitations: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 Focuses on loans only (not overall banking).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External Factors: 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Doesn’t include macroeconomic risks (interest rate hikes, inflation).</a:t>
            </a: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063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9552-6372-BDBF-E274-1E19F834D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1106151"/>
          </a:xfrm>
        </p:spPr>
        <p:txBody>
          <a:bodyPr anchor="ctr">
            <a:noAutofit/>
          </a:bodyPr>
          <a:lstStyle/>
          <a:p>
            <a:pPr algn="ctr"/>
            <a:r>
              <a:rPr lang="en-IN" alt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8D441-8439-92F0-C819-61FEE1361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3404" y="3882326"/>
            <a:ext cx="17110128" cy="6160577"/>
          </a:xfrm>
        </p:spPr>
        <p:txBody>
          <a:bodyPr>
            <a:normAutofit/>
          </a:bodyPr>
          <a:lstStyle/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3600" dirty="0"/>
              <a:t>Inventory refers to the stock of raw materials, work-in-progress items, and finished goods held by a business to meet production and customer demand.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3600" dirty="0"/>
              <a:t>Effective inventory management helps reduce costs, avoid overstocking or stockouts, and improve overall efficiency in the supply chain.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3600" dirty="0"/>
              <a:t>Modern inventory practices like ERP systems enhance visibility, accuracy, and decision-making. In essence, well-managed inventory is essential for achieving a smooth, cost-effective, and responsive supply chain.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en-US" altLang="en-US" sz="31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651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19DE-BF93-327E-EDE6-C3468048D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1361873"/>
          </a:xfrm>
        </p:spPr>
        <p:txBody>
          <a:bodyPr anchor="ctr">
            <a:noAutofit/>
          </a:bodyPr>
          <a:lstStyle/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8C7C8-AC14-FC88-EAD5-5B9DBC2A3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651" y="4231038"/>
            <a:ext cx="17381349" cy="6055962"/>
          </a:xfrm>
        </p:spPr>
        <p:txBody>
          <a:bodyPr>
            <a:normAutofit/>
          </a:bodyPr>
          <a:lstStyle/>
          <a:p>
            <a:pPr lvl="1" algn="l">
              <a:lnSpc>
                <a:spcPct val="150000"/>
              </a:lnSpc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inventory management is a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 of supply chain efficiency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that products are available at the right place, in the right quantity, and at the right time.</a:t>
            </a:r>
          </a:p>
          <a:p>
            <a:pPr algn="l">
              <a:lnSpc>
                <a:spcPct val="150000"/>
              </a:lnSpc>
            </a:pP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928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40684F-916F-B121-2B9F-44B3576B1AA1}"/>
              </a:ext>
            </a:extLst>
          </p:cNvPr>
          <p:cNvSpPr txBox="1"/>
          <p:nvPr/>
        </p:nvSpPr>
        <p:spPr>
          <a:xfrm>
            <a:off x="4757738" y="1102927"/>
            <a:ext cx="5600700" cy="4747568"/>
          </a:xfrm>
          <a:prstGeom prst="rect">
            <a:avLst/>
          </a:prstGeom>
        </p:spPr>
        <p:txBody>
          <a:bodyPr vert="horz" lIns="137160" tIns="68580" rIns="137160" bIns="6858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sz="6750"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22" name="Graphic 21" descr="Smiling Face with No Fill">
            <a:extLst>
              <a:ext uri="{FF2B5EF4-FFF2-40B4-BE49-F238E27FC236}">
                <a16:creationId xmlns:a16="http://schemas.microsoft.com/office/drawing/2014/main" id="{630E2A06-0C55-6571-31EB-E6812EBB1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3244" y="4406627"/>
            <a:ext cx="1450184" cy="145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0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0*670"/>
  <p:tag name="TABLE_ENDDRAG_RECT" val="746*75*410*670"/>
</p:tagLst>
</file>

<file path=ppt/theme/theme1.xml><?xml version="1.0" encoding="utf-8"?>
<a:theme xmlns:a="http://schemas.openxmlformats.org/drawingml/2006/main" name="1_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771</Words>
  <Application>Microsoft Office PowerPoint</Application>
  <PresentationFormat>Custom</PresentationFormat>
  <Paragraphs>130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Open Sans Extra Bold</vt:lpstr>
      <vt:lpstr>Open Sans</vt:lpstr>
      <vt:lpstr>Canva Sans</vt:lpstr>
      <vt:lpstr>Calibri</vt:lpstr>
      <vt:lpstr>Arial</vt:lpstr>
      <vt:lpstr>Open Sans Bold</vt:lpstr>
      <vt:lpstr>Times New Roman</vt:lpstr>
      <vt:lpstr>1_Green Color</vt:lpstr>
      <vt:lpstr>Analysis of Supply Chain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Inventory Dashboard</vt:lpstr>
      <vt:lpstr>INDEX</vt:lpstr>
      <vt:lpstr>Introduction</vt:lpstr>
      <vt:lpstr> Objectives</vt:lpstr>
      <vt:lpstr>Tools Used</vt:lpstr>
      <vt:lpstr> EXCEL DASHBOARD</vt:lpstr>
      <vt:lpstr>POWERBI DASHBOARD</vt:lpstr>
      <vt:lpstr> TABLEAU DASHBOARD </vt:lpstr>
      <vt:lpstr>PowerPoint Presentation</vt:lpstr>
      <vt:lpstr>Key Findings</vt:lpstr>
      <vt:lpstr>LIMITATIONS</vt:lpstr>
      <vt:lpstr>SUMMARY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Brief Deck</dc:title>
  <dc:creator>Admin</dc:creator>
  <cp:lastModifiedBy>Shobha Gowda</cp:lastModifiedBy>
  <cp:revision>18</cp:revision>
  <dcterms:created xsi:type="dcterms:W3CDTF">2006-08-16T00:00:00Z</dcterms:created>
  <dcterms:modified xsi:type="dcterms:W3CDTF">2025-11-05T12:30:53Z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01C30457BB8047748516D64187803B32_13</vt:lpwstr>
  </property>
  <property fmtid="{D5CDD505-2E9C-101B-9397-08002B2CF9AE}" pid="3" name="KSOProductBuildVer">
    <vt:lpwstr>1033-12.2.0.23131</vt:lpwstr>
  </property>
</Properties>
</file>